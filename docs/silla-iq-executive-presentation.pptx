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Oval 2"/>
          <p:cNvSpPr/>
          <p:nvPr/>
        </p:nvSpPr>
        <p:spPr>
          <a:xfrm>
            <a:off x="1051560" y="914400"/>
            <a:ext cx="1554480" cy="1554480"/>
          </a:xfrm>
          <a:prstGeom prst="ellipse">
            <a:avLst/>
          </a:prstGeom>
          <a:noFill/>
          <a:ln w="15240">
            <a:solidFill>
              <a:srgbClr val="24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Oval 3"/>
          <p:cNvSpPr/>
          <p:nvPr/>
        </p:nvSpPr>
        <p:spPr>
          <a:xfrm>
            <a:off x="9966960" y="5212080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Oval 4"/>
          <p:cNvSpPr/>
          <p:nvPr/>
        </p:nvSpPr>
        <p:spPr>
          <a:xfrm>
            <a:off x="960120" y="5806440"/>
            <a:ext cx="50292" cy="50292"/>
          </a:xfrm>
          <a:prstGeom prst="ellipse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6" name="Oval 5"/>
          <p:cNvSpPr/>
          <p:nvPr/>
        </p:nvSpPr>
        <p:spPr>
          <a:xfrm>
            <a:off x="1179576" y="5806440"/>
            <a:ext cx="50292" cy="50292"/>
          </a:xfrm>
          <a:prstGeom prst="ellipse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7" name="Oval 6"/>
          <p:cNvSpPr/>
          <p:nvPr/>
        </p:nvSpPr>
        <p:spPr>
          <a:xfrm>
            <a:off x="1399032" y="5806440"/>
            <a:ext cx="50292" cy="50292"/>
          </a:xfrm>
          <a:prstGeom prst="ellipse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8" name="Oval 7"/>
          <p:cNvSpPr/>
          <p:nvPr/>
        </p:nvSpPr>
        <p:spPr>
          <a:xfrm>
            <a:off x="1618488" y="5806440"/>
            <a:ext cx="50292" cy="50292"/>
          </a:xfrm>
          <a:prstGeom prst="ellipse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9" name="Rounded Rectangle 8"/>
          <p:cNvSpPr/>
          <p:nvPr/>
        </p:nvSpPr>
        <p:spPr>
          <a:xfrm>
            <a:off x="10625328" y="5029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0" name="TextBox 9"/>
          <p:cNvSpPr txBox="1"/>
          <p:nvPr/>
        </p:nvSpPr>
        <p:spPr>
          <a:xfrm>
            <a:off x="10625328" y="5029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220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75488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500" b="1" i="0" lang="ar">
                <a:solidFill>
                  <a:srgbClr val="F8FAFC"/>
                </a:solidFill>
                <a:latin typeface="Cairo"/>
                <a:ea typeface="Cairo"/>
                <a:cs typeface="Cairo"/>
              </a:rPr>
              <a:t>صِلة دوائي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786384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90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S I L A  I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810512"/>
            <a:ext cx="548640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4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4" name="TextBox 13"/>
          <p:cNvSpPr txBox="1"/>
          <p:nvPr/>
        </p:nvSpPr>
        <p:spPr>
          <a:xfrm>
            <a:off x="6153912" y="1810512"/>
            <a:ext cx="5486400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100" b="1" i="0" lang="ar">
                <a:solidFill>
                  <a:srgbClr val="5EEAD4"/>
                </a:solidFill>
                <a:latin typeface="Cairo"/>
                <a:ea typeface="Cairo"/>
                <a:cs typeface="Cairo"/>
              </a:rPr>
              <a:t>الخطة التسويقية والاستراتيجية للنمو  •  السوق العراقي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91672" y="2450592"/>
            <a:ext cx="502920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10817352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</a:pPr>
            <a:r>
              <a:rPr sz="4200" b="1" i="0" lang="ar">
                <a:solidFill>
                  <a:srgbClr val="F8FAFC"/>
                </a:solidFill>
                <a:latin typeface="Cairo"/>
                <a:ea typeface="Cairo"/>
                <a:cs typeface="Cairo"/>
              </a:rPr>
              <a:t>من تطبيق توصيل</a:t>
            </a:r>
          </a:p>
          <a:p>
            <a:pPr algn="r" rtl="1">
              <a:lnSpc>
                <a:spcPct val="112000"/>
              </a:lnSpc>
            </a:pPr>
            <a:r>
              <a:rPr sz="4200" b="1" i="0" lang="ar">
                <a:solidFill>
                  <a:srgbClr val="5EEAD4"/>
                </a:solidFill>
                <a:latin typeface="Cairo"/>
                <a:ea typeface="Cairo"/>
                <a:cs typeface="Cairo"/>
              </a:rPr>
              <a:t>إلى شبكة دواء موثوقة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90288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500" b="0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«دواؤك الموثوق، من صيدلية قريبة، وبالسعر والوقت الواضحين.»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1472" y="513892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24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9" name="TextBox 18"/>
          <p:cNvSpPr txBox="1"/>
          <p:nvPr/>
        </p:nvSpPr>
        <p:spPr>
          <a:xfrm>
            <a:off x="9537192" y="5138928"/>
            <a:ext cx="20574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50" b="1" i="0" lang="ar">
                <a:solidFill>
                  <a:srgbClr val="B6C2D4"/>
                </a:solidFill>
                <a:latin typeface="Cairo"/>
                <a:ea typeface="Cairo"/>
                <a:cs typeface="Cairo"/>
              </a:rPr>
              <a:t>قرار إطلاق  •  90 يوماً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98464" y="513892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24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1" name="TextBox 20"/>
          <p:cNvSpPr txBox="1"/>
          <p:nvPr/>
        </p:nvSpPr>
        <p:spPr>
          <a:xfrm>
            <a:off x="6044184" y="513892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50" b="1" i="0" lang="ar">
                <a:solidFill>
                  <a:srgbClr val="B6C2D4"/>
                </a:solidFill>
                <a:latin typeface="Cairo"/>
                <a:ea typeface="Cairo"/>
                <a:cs typeface="Cairo"/>
              </a:rPr>
              <a:t>بغداد أولاً ثم البصرة / النجف / كربلاء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513892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24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3" name="TextBox 22"/>
          <p:cNvSpPr txBox="1"/>
          <p:nvPr/>
        </p:nvSpPr>
        <p:spPr>
          <a:xfrm>
            <a:off x="4425696" y="5138928"/>
            <a:ext cx="13258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50" b="1" i="0" lang="ar">
                <a:solidFill>
                  <a:srgbClr val="B6C2D4"/>
                </a:solidFill>
                <a:latin typeface="Cairo"/>
                <a:ea typeface="Cairo"/>
                <a:cs typeface="Cairo"/>
              </a:rPr>
              <a:t>أيلول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900" b="1" i="0" lang="ar">
                <a:solidFill>
                  <a:srgbClr val="475569"/>
                </a:solidFill>
                <a:latin typeface="Cairo"/>
                <a:ea typeface="Cairo"/>
                <a:cs typeface="Cairo"/>
              </a:rPr>
              <a:t>SILA IQ — Executive Deck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6" name="TextBox 25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01  •  الفرصة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5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رحلة المريض اليوم مشتّتة — والفجوة قابلة للامتلاك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2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الاكتشاف يبدأ بالهاتف ووسائل التواصل، والإتمام بالنقد عند الاستلام — بينما الثقة والتنسيق لم يكتملا.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8503" y="1755648"/>
            <a:ext cx="3575304" cy="3913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7" name="Rounded Rectangle 6"/>
          <p:cNvSpPr/>
          <p:nvPr/>
        </p:nvSpPr>
        <p:spPr>
          <a:xfrm>
            <a:off x="2343607" y="195681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8" name="TextBox 7"/>
          <p:cNvSpPr txBox="1"/>
          <p:nvPr/>
        </p:nvSpPr>
        <p:spPr>
          <a:xfrm>
            <a:off x="2389327" y="1956816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المشكلة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" y="2322576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4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خمس حواجز في كل طلب دواء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6879" y="286207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1" name="TextBox 10"/>
          <p:cNvSpPr txBox="1"/>
          <p:nvPr/>
        </p:nvSpPr>
        <p:spPr>
          <a:xfrm>
            <a:off x="3376879" y="286207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247" y="2834639"/>
            <a:ext cx="261518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150" b="0" i="0" lang="ar">
                <a:solidFill>
                  <a:srgbClr val="475569"/>
                </a:solidFill>
                <a:latin typeface="Cairo"/>
                <a:ea typeface="Cairo"/>
                <a:cs typeface="Cairo"/>
              </a:rPr>
              <a:t>اتصال وانتظار أرقام متفرقة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6879" y="336956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4" name="TextBox 13"/>
          <p:cNvSpPr txBox="1"/>
          <p:nvPr/>
        </p:nvSpPr>
        <p:spPr>
          <a:xfrm>
            <a:off x="3376879" y="336956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" y="3342132"/>
            <a:ext cx="261518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150" b="0" i="0" lang="ar">
                <a:solidFill>
                  <a:srgbClr val="475569"/>
                </a:solidFill>
                <a:latin typeface="Cairo"/>
                <a:ea typeface="Cairo"/>
                <a:cs typeface="Cairo"/>
              </a:rPr>
              <a:t>مشاوير متعددة بين الصيدليات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76879" y="38770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7" name="TextBox 16"/>
          <p:cNvSpPr txBox="1"/>
          <p:nvPr/>
        </p:nvSpPr>
        <p:spPr>
          <a:xfrm>
            <a:off x="3376879" y="387705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" y="3849624"/>
            <a:ext cx="261518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150" b="0" i="0" lang="ar">
                <a:solidFill>
                  <a:srgbClr val="475569"/>
                </a:solidFill>
                <a:latin typeface="Cairo"/>
                <a:ea typeface="Cairo"/>
                <a:cs typeface="Cairo"/>
              </a:rPr>
              <a:t>«مو متوفر» — لا مخزون مضمون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6879" y="43845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0" name="TextBox 19"/>
          <p:cNvSpPr txBox="1"/>
          <p:nvPr/>
        </p:nvSpPr>
        <p:spPr>
          <a:xfrm>
            <a:off x="3376879" y="43845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" y="4357116"/>
            <a:ext cx="261518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150" b="0" i="0" lang="ar">
                <a:solidFill>
                  <a:srgbClr val="475569"/>
                </a:solidFill>
                <a:latin typeface="Cairo"/>
                <a:ea typeface="Cairo"/>
                <a:cs typeface="Cairo"/>
              </a:rPr>
              <a:t>نقد عند الاستلام بلا وضوح مسبق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76879" y="48920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3" name="TextBox 22"/>
          <p:cNvSpPr txBox="1"/>
          <p:nvPr/>
        </p:nvSpPr>
        <p:spPr>
          <a:xfrm>
            <a:off x="3376879" y="48920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247" y="4864607"/>
            <a:ext cx="261518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150" b="0" i="0" lang="ar">
                <a:solidFill>
                  <a:srgbClr val="475569"/>
                </a:solidFill>
                <a:latin typeface="Cairo"/>
                <a:ea typeface="Cairo"/>
                <a:cs typeface="Cairo"/>
              </a:rPr>
              <a:t>قلق من مصدر الدواء وسلسلة الحفظ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26687" y="1755648"/>
            <a:ext cx="3575304" cy="3913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6" name="Rounded Rectangle 25"/>
          <p:cNvSpPr/>
          <p:nvPr/>
        </p:nvSpPr>
        <p:spPr>
          <a:xfrm>
            <a:off x="6101791" y="195681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7" name="TextBox 26"/>
          <p:cNvSpPr txBox="1"/>
          <p:nvPr/>
        </p:nvSpPr>
        <p:spPr>
          <a:xfrm>
            <a:off x="6147511" y="1956816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لماذا الآن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4431" y="2322576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4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تقاطع ثلاث إشارات سوقية</a:t>
            </a:r>
          </a:p>
        </p:txBody>
      </p:sp>
      <p:sp>
        <p:nvSpPr>
          <p:cNvPr id="29" name="Oval 28"/>
          <p:cNvSpPr/>
          <p:nvPr/>
        </p:nvSpPr>
        <p:spPr>
          <a:xfrm>
            <a:off x="7244791" y="2926079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0" name="TextBox 29"/>
          <p:cNvSpPr txBox="1"/>
          <p:nvPr/>
        </p:nvSpPr>
        <p:spPr>
          <a:xfrm>
            <a:off x="4364431" y="2871215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2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سوق رقمي كثيف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4431" y="3154679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الاكتشاف يبدأ من فيسبوك وإنستغرام وتيك توك</a:t>
            </a:r>
          </a:p>
        </p:txBody>
      </p:sp>
      <p:sp>
        <p:nvSpPr>
          <p:cNvPr id="32" name="Oval 31"/>
          <p:cNvSpPr/>
          <p:nvPr/>
        </p:nvSpPr>
        <p:spPr>
          <a:xfrm>
            <a:off x="7244791" y="3858768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3" name="TextBox 32"/>
          <p:cNvSpPr txBox="1"/>
          <p:nvPr/>
        </p:nvSpPr>
        <p:spPr>
          <a:xfrm>
            <a:off x="4364431" y="380390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2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النقد مرساة الثقة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4431" y="4087368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السعر النهائي والوقت يجب أن يظهر قبل التأكيد</a:t>
            </a:r>
          </a:p>
        </p:txBody>
      </p:sp>
      <p:sp>
        <p:nvSpPr>
          <p:cNvPr id="35" name="Oval 34"/>
          <p:cNvSpPr/>
          <p:nvPr/>
        </p:nvSpPr>
        <p:spPr>
          <a:xfrm>
            <a:off x="7244791" y="4791455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6" name="TextBox 35"/>
          <p:cNvSpPr txBox="1"/>
          <p:nvPr/>
        </p:nvSpPr>
        <p:spPr>
          <a:xfrm>
            <a:off x="4364431" y="473659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2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فجوات مفتوحة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4431" y="5020055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التوفّر والتنسيق والثقة لم تُغلق بعد — لا حاجة لاختراع سوق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84871" y="1755648"/>
            <a:ext cx="3575304" cy="3913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9" name="Rounded Rectangle 38"/>
          <p:cNvSpPr/>
          <p:nvPr/>
        </p:nvSpPr>
        <p:spPr>
          <a:xfrm>
            <a:off x="9677095" y="1956816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0" name="TextBox 39"/>
          <p:cNvSpPr txBox="1"/>
          <p:nvPr/>
        </p:nvSpPr>
        <p:spPr>
          <a:xfrm>
            <a:off x="9722815" y="1956816"/>
            <a:ext cx="146303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نستطيع امتلاكها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2615" y="2322576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4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خمس فجوات عراقية محددة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2615" y="2871215"/>
            <a:ext cx="3099816" cy="47548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3" name="TextBox 42"/>
          <p:cNvSpPr txBox="1"/>
          <p:nvPr/>
        </p:nvSpPr>
        <p:spPr>
          <a:xfrm>
            <a:off x="8268919" y="2871215"/>
            <a:ext cx="2843784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050" b="1" i="0" lang="ar">
                <a:solidFill>
                  <a:srgbClr val="475569"/>
                </a:solidFill>
                <a:latin typeface="Cairo"/>
                <a:ea typeface="Cairo"/>
                <a:cs typeface="Cairo"/>
              </a:rPr>
              <a:t>فجوة التوفّر — من يملك الدواء الآن؟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22615" y="3438144"/>
            <a:ext cx="3099816" cy="47548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5" name="TextBox 44"/>
          <p:cNvSpPr txBox="1"/>
          <p:nvPr/>
        </p:nvSpPr>
        <p:spPr>
          <a:xfrm>
            <a:off x="8268919" y="3438144"/>
            <a:ext cx="2843784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050" b="1" i="0" lang="ar">
                <a:solidFill>
                  <a:srgbClr val="475569"/>
                </a:solidFill>
                <a:latin typeface="Cairo"/>
                <a:ea typeface="Cairo"/>
                <a:cs typeface="Cairo"/>
              </a:rPr>
              <a:t>فجوة التنسيق — الهاتف والواتساب تشتت الطلب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22615" y="4005072"/>
            <a:ext cx="3099816" cy="47548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7" name="TextBox 46"/>
          <p:cNvSpPr txBox="1"/>
          <p:nvPr/>
        </p:nvSpPr>
        <p:spPr>
          <a:xfrm>
            <a:off x="8268919" y="4005072"/>
            <a:ext cx="2843784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050" b="1" i="0" lang="ar">
                <a:solidFill>
                  <a:srgbClr val="475569"/>
                </a:solidFill>
                <a:latin typeface="Cairo"/>
                <a:ea typeface="Cairo"/>
                <a:cs typeface="Cairo"/>
              </a:rPr>
              <a:t>فجوة الثقة — لا مرخّص ولا صيدلي ظاهر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22615" y="4572000"/>
            <a:ext cx="3099816" cy="47548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9" name="TextBox 48"/>
          <p:cNvSpPr txBox="1"/>
          <p:nvPr/>
        </p:nvSpPr>
        <p:spPr>
          <a:xfrm>
            <a:off x="8268919" y="4572000"/>
            <a:ext cx="2843784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050" b="1" i="0" lang="ar">
                <a:solidFill>
                  <a:srgbClr val="475569"/>
                </a:solidFill>
                <a:latin typeface="Cairo"/>
                <a:ea typeface="Cairo"/>
                <a:cs typeface="Cairo"/>
              </a:rPr>
              <a:t>فجوة الوصول — راعي مريض مزمّن أو كبير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22615" y="5138928"/>
            <a:ext cx="3099816" cy="47548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1" name="TextBox 50"/>
          <p:cNvSpPr txBox="1"/>
          <p:nvPr/>
        </p:nvSpPr>
        <p:spPr>
          <a:xfrm>
            <a:off x="8268919" y="5138928"/>
            <a:ext cx="2843784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050" b="1" i="0" lang="ar">
                <a:solidFill>
                  <a:srgbClr val="475569"/>
                </a:solidFill>
                <a:latin typeface="Cairo"/>
                <a:ea typeface="Cairo"/>
                <a:cs typeface="Cairo"/>
              </a:rPr>
              <a:t>فجوة الاختيار — مقارنة بلا مزاد على الصيدلية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815584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3" name="Rectangle 52"/>
          <p:cNvSpPr/>
          <p:nvPr/>
        </p:nvSpPr>
        <p:spPr>
          <a:xfrm>
            <a:off x="11560759" y="5870448"/>
            <a:ext cx="41148" cy="34747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4" name="TextBox 53"/>
          <p:cNvSpPr txBox="1"/>
          <p:nvPr/>
        </p:nvSpPr>
        <p:spPr>
          <a:xfrm>
            <a:off x="822959" y="5815584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150" b="1" i="0" lang="ar">
                <a:solidFill>
                  <a:srgbClr val="9F1239"/>
                </a:solidFill>
                <a:latin typeface="Cairo"/>
                <a:ea typeface="Cairo"/>
                <a:cs typeface="Cairo"/>
              </a:rPr>
              <a:t>الدواء فئة عالية الحساسية: </a:t>
            </a:r>
            <a:r>
              <a:rPr sz="1150" b="0" i="0" lang="ar">
                <a:solidFill>
                  <a:srgbClr val="9F1239"/>
                </a:solidFill>
                <a:latin typeface="Cairo"/>
                <a:ea typeface="Cairo"/>
                <a:cs typeface="Cairo"/>
              </a:rPr>
              <a:t>إثبات الترخيص والتحقق من الوصفة وسلسلة الحفظ شروط دخول قبل أي إعلان أداء.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6" name="TextBox 55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02  •  المنصة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5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نظام واحد يربط المريض والصيدلية والكابتن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47687" y="2472927"/>
            <a:ext cx="2647850" cy="1418369"/>
          </a:xfrm>
          <a:prstGeom prst="line">
            <a:avLst/>
          </a:prstGeom>
          <a:ln w="22225">
            <a:solidFill>
              <a:srgbClr val="99F6E4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3026664" y="4133087"/>
            <a:ext cx="6108192" cy="0"/>
          </a:xfrm>
          <a:prstGeom prst="line">
            <a:avLst/>
          </a:prstGeom>
          <a:ln w="22225">
            <a:solidFill>
              <a:srgbClr val="99F6E4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966855" y="2471291"/>
            <a:ext cx="2677194" cy="1421641"/>
          </a:xfrm>
          <a:prstGeom prst="line">
            <a:avLst/>
          </a:prstGeom>
          <a:ln w="22225">
            <a:solidFill>
              <a:srgbClr val="99F6E4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447080" y="2807208"/>
            <a:ext cx="1298448" cy="12984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9" name="TextBox 8"/>
          <p:cNvSpPr txBox="1"/>
          <p:nvPr/>
        </p:nvSpPr>
        <p:spPr>
          <a:xfrm>
            <a:off x="5547664" y="3145536"/>
            <a:ext cx="109728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sz="10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قلب التشغيل</a:t>
            </a:r>
          </a:p>
          <a:p>
            <a:pPr algn="ctr" rtl="1">
              <a:lnSpc>
                <a:spcPct val="105000"/>
              </a:lnSpc>
            </a:pPr>
            <a:r>
              <a:rPr sz="10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والصيدلي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664" y="37307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8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طبقة الثقة</a:t>
            </a:r>
          </a:p>
        </p:txBody>
      </p:sp>
      <p:sp>
        <p:nvSpPr>
          <p:cNvPr id="11" name="Oval 10"/>
          <p:cNvSpPr/>
          <p:nvPr/>
        </p:nvSpPr>
        <p:spPr>
          <a:xfrm>
            <a:off x="5648248" y="1783080"/>
            <a:ext cx="896112" cy="8961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2" name="TextBox 11"/>
          <p:cNvSpPr txBox="1"/>
          <p:nvPr/>
        </p:nvSpPr>
        <p:spPr>
          <a:xfrm>
            <a:off x="5648248" y="1783080"/>
            <a:ext cx="896112" cy="8961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المريض</a:t>
            </a:r>
          </a:p>
        </p:txBody>
      </p:sp>
      <p:sp>
        <p:nvSpPr>
          <p:cNvPr id="13" name="Oval 12"/>
          <p:cNvSpPr/>
          <p:nvPr/>
        </p:nvSpPr>
        <p:spPr>
          <a:xfrm>
            <a:off x="9198864" y="3685031"/>
            <a:ext cx="896112" cy="8961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4" name="TextBox 13"/>
          <p:cNvSpPr txBox="1"/>
          <p:nvPr/>
        </p:nvSpPr>
        <p:spPr>
          <a:xfrm>
            <a:off x="9198864" y="3685031"/>
            <a:ext cx="896112" cy="8961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الصيدلية</a:t>
            </a:r>
          </a:p>
        </p:txBody>
      </p:sp>
      <p:sp>
        <p:nvSpPr>
          <p:cNvPr id="15" name="Oval 14"/>
          <p:cNvSpPr/>
          <p:nvPr/>
        </p:nvSpPr>
        <p:spPr>
          <a:xfrm>
            <a:off x="2066543" y="3685031"/>
            <a:ext cx="896112" cy="8961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6" name="TextBox 15"/>
          <p:cNvSpPr txBox="1"/>
          <p:nvPr/>
        </p:nvSpPr>
        <p:spPr>
          <a:xfrm>
            <a:off x="2066543" y="3685031"/>
            <a:ext cx="896112" cy="8961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الكابتن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04888" y="2889503"/>
            <a:ext cx="1554480" cy="2560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8" name="TextBox 17"/>
          <p:cNvSpPr txBox="1"/>
          <p:nvPr/>
        </p:nvSpPr>
        <p:spPr>
          <a:xfrm>
            <a:off x="7104888" y="2889503"/>
            <a:ext cx="15544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85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طلب • وصفة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889503"/>
            <a:ext cx="1554480" cy="2560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0" name="TextBox 19"/>
          <p:cNvSpPr txBox="1"/>
          <p:nvPr/>
        </p:nvSpPr>
        <p:spPr>
          <a:xfrm>
            <a:off x="3520440" y="2889503"/>
            <a:ext cx="15544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85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توصيل • COD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19064" y="4242816"/>
            <a:ext cx="1554480" cy="2560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2" name="TextBox 21"/>
          <p:cNvSpPr txBox="1"/>
          <p:nvPr/>
        </p:nvSpPr>
        <p:spPr>
          <a:xfrm>
            <a:off x="5319064" y="4242816"/>
            <a:ext cx="15544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85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تجهيز • تسليم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26687" y="4736592"/>
            <a:ext cx="3575304" cy="15361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4" name="Rounded Rectangle 23"/>
          <p:cNvSpPr/>
          <p:nvPr/>
        </p:nvSpPr>
        <p:spPr>
          <a:xfrm>
            <a:off x="6833311" y="489204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5" name="TextBox 24"/>
          <p:cNvSpPr txBox="1"/>
          <p:nvPr/>
        </p:nvSpPr>
        <p:spPr>
          <a:xfrm>
            <a:off x="6833311" y="4892040"/>
            <a:ext cx="7132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8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B2C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6143" y="4882896"/>
            <a:ext cx="23865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المريض / العائلة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4431" y="5266944"/>
            <a:ext cx="31181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بحث ورفع الوصفة ومقارنة العروض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4431" y="5577840"/>
            <a:ext cx="31181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اختيار بالسعر والمسافة والوقت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4431" y="5888736"/>
            <a:ext cx="31181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تتبّع الطلب والدفع عند الاستلام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8503" y="4736592"/>
            <a:ext cx="3575304" cy="15361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1" name="Rounded Rectangle 30"/>
          <p:cNvSpPr/>
          <p:nvPr/>
        </p:nvSpPr>
        <p:spPr>
          <a:xfrm>
            <a:off x="3075127" y="489204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2" name="TextBox 31"/>
          <p:cNvSpPr txBox="1"/>
          <p:nvPr/>
        </p:nvSpPr>
        <p:spPr>
          <a:xfrm>
            <a:off x="3075127" y="4892040"/>
            <a:ext cx="7132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8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B2B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959" y="4882896"/>
            <a:ext cx="23865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الصيدلية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" y="5266944"/>
            <a:ext cx="31181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قناة طلبات محلية ولوحة إدارة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6247" y="5577840"/>
            <a:ext cx="31181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تحكم بالسعر والعروض والموافقة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6247" y="5888736"/>
            <a:ext cx="31181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سجل طلبات وتسويات شفافة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84871" y="4736592"/>
            <a:ext cx="3575304" cy="15361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8" name="Rounded Rectangle 37"/>
          <p:cNvSpPr/>
          <p:nvPr/>
        </p:nvSpPr>
        <p:spPr>
          <a:xfrm>
            <a:off x="10591495" y="489204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9" name="TextBox 38"/>
          <p:cNvSpPr txBox="1"/>
          <p:nvPr/>
        </p:nvSpPr>
        <p:spPr>
          <a:xfrm>
            <a:off x="10591495" y="4892040"/>
            <a:ext cx="7132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8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التوصيل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4327" y="4882896"/>
            <a:ext cx="23865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الكابتن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2615" y="5266944"/>
            <a:ext cx="31181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طلبات ضمن نطاقه وخريطة واضحة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2615" y="5577840"/>
            <a:ext cx="31181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سجل أرباح واعتماد ودعم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22615" y="5888736"/>
            <a:ext cx="31181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تسوية يومية ودفع في وقته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5" name="TextBox 44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03  •  التموضع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5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شبكة صيدليات موثّقة — لا متجر واحد ولا دليفري عام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2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خمسة أعمدة تعنيها هذه العبارة، ويقيسها المستخدم في كل طلب.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85106" y="1874519"/>
            <a:ext cx="2057948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7" name="Rounded Rectangle 6"/>
          <p:cNvSpPr/>
          <p:nvPr/>
        </p:nvSpPr>
        <p:spPr>
          <a:xfrm>
            <a:off x="11076127" y="2075688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8" name="TextBox 7"/>
          <p:cNvSpPr txBox="1"/>
          <p:nvPr/>
        </p:nvSpPr>
        <p:spPr>
          <a:xfrm>
            <a:off x="11076127" y="207568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5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49698" y="2093976"/>
            <a:ext cx="13264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ثقة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67986" y="2532887"/>
            <a:ext cx="310896" cy="274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1" name="TextBox 10"/>
          <p:cNvSpPr txBox="1"/>
          <p:nvPr/>
        </p:nvSpPr>
        <p:spPr>
          <a:xfrm>
            <a:off x="9749698" y="2697479"/>
            <a:ext cx="1728764" cy="1207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25000"/>
              </a:lnSpc>
            </a:pP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اسم الصيدلية المرخّصة وتاريخ الاعتماد والصيدلي المتابع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25989" y="1874519"/>
            <a:ext cx="2057948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3" name="Rounded Rectangle 12"/>
          <p:cNvSpPr/>
          <p:nvPr/>
        </p:nvSpPr>
        <p:spPr>
          <a:xfrm>
            <a:off x="8817010" y="2075688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4" name="TextBox 13"/>
          <p:cNvSpPr txBox="1"/>
          <p:nvPr/>
        </p:nvSpPr>
        <p:spPr>
          <a:xfrm>
            <a:off x="8817010" y="207568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5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0581" y="2093976"/>
            <a:ext cx="13264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توفّر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08869" y="2532887"/>
            <a:ext cx="310896" cy="274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7" name="TextBox 16"/>
          <p:cNvSpPr txBox="1"/>
          <p:nvPr/>
        </p:nvSpPr>
        <p:spPr>
          <a:xfrm>
            <a:off x="7490581" y="2697479"/>
            <a:ext cx="1728764" cy="1207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25000"/>
              </a:lnSpc>
            </a:pP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«متاح / يحتاج تأكيداً» مع وقت تحديث واضح لكل مخزون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6873" y="1874519"/>
            <a:ext cx="2057948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9" name="Rounded Rectangle 18"/>
          <p:cNvSpPr/>
          <p:nvPr/>
        </p:nvSpPr>
        <p:spPr>
          <a:xfrm>
            <a:off x="6557893" y="2075688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0" name="TextBox 19"/>
          <p:cNvSpPr txBox="1"/>
          <p:nvPr/>
        </p:nvSpPr>
        <p:spPr>
          <a:xfrm>
            <a:off x="6557893" y="207568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5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1465" y="2093976"/>
            <a:ext cx="13264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اختيار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49753" y="2532887"/>
            <a:ext cx="310896" cy="274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3" name="TextBox 22"/>
          <p:cNvSpPr txBox="1"/>
          <p:nvPr/>
        </p:nvSpPr>
        <p:spPr>
          <a:xfrm>
            <a:off x="5231465" y="2697479"/>
            <a:ext cx="1728764" cy="1207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25000"/>
              </a:lnSpc>
            </a:pP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عروض متعددة مقارنة بالسعر والمسافة والوقت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07756" y="1874519"/>
            <a:ext cx="2057948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5" name="Rounded Rectangle 24"/>
          <p:cNvSpPr/>
          <p:nvPr/>
        </p:nvSpPr>
        <p:spPr>
          <a:xfrm>
            <a:off x="4298777" y="2075688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6" name="TextBox 25"/>
          <p:cNvSpPr txBox="1"/>
          <p:nvPr/>
        </p:nvSpPr>
        <p:spPr>
          <a:xfrm>
            <a:off x="4298777" y="207568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5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2348" y="2093976"/>
            <a:ext cx="13264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صيدلي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90636" y="2532887"/>
            <a:ext cx="310896" cy="274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9" name="TextBox 28"/>
          <p:cNvSpPr txBox="1"/>
          <p:nvPr/>
        </p:nvSpPr>
        <p:spPr>
          <a:xfrm>
            <a:off x="2972348" y="2697479"/>
            <a:ext cx="1728764" cy="1207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25000"/>
              </a:lnSpc>
            </a:pP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يراجع الوصفة ولا يستبدل المادة دون موافقته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39" y="1874519"/>
            <a:ext cx="2057948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1" name="Rounded Rectangle 30"/>
          <p:cNvSpPr/>
          <p:nvPr/>
        </p:nvSpPr>
        <p:spPr>
          <a:xfrm>
            <a:off x="2039660" y="2075688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2" name="TextBox 31"/>
          <p:cNvSpPr txBox="1"/>
          <p:nvPr/>
        </p:nvSpPr>
        <p:spPr>
          <a:xfrm>
            <a:off x="2039660" y="207568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5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1" y="2093976"/>
            <a:ext cx="13264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تتبع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19" y="2532887"/>
            <a:ext cx="310896" cy="274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5" name="TextBox 34"/>
          <p:cNvSpPr txBox="1"/>
          <p:nvPr/>
        </p:nvSpPr>
        <p:spPr>
          <a:xfrm>
            <a:off x="713231" y="2697479"/>
            <a:ext cx="1728764" cy="1207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25000"/>
              </a:lnSpc>
            </a:pP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توصيل قابل للتتبع وإيصال دقيق وتسوية شفافة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370832"/>
            <a:ext cx="11094415" cy="566928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7" name="TextBox 36"/>
          <p:cNvSpPr txBox="1"/>
          <p:nvPr/>
        </p:nvSpPr>
        <p:spPr>
          <a:xfrm>
            <a:off x="841247" y="4370832"/>
            <a:ext cx="1050919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3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نُظهر من يملك الدواء </a:t>
            </a:r>
            <a:r>
              <a:rPr sz="13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الآن</a:t>
            </a:r>
            <a:r>
              <a:rPr sz="13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 — مع وقت التحديث لكل مخزون.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13892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25000"/>
              </a:lnSpc>
            </a:pPr>
            <a:r>
              <a:rPr sz="10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حدود الوعد:  </a:t>
            </a:r>
            <a:r>
              <a:rPr sz="1050" b="0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صِلة تُسهّل الوصول ولا تشخّص ولا تستبدل الطبيب أو الصيدلي، ولا تُسوَّق كخدمة إسعاف أو بديل للطوارئ.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65099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05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لا حرب «أسرع دائماً» أو «أرخص دائماً» قبل توفّر البيانات التشغيلية.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1" name="TextBox 40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04  •  الجمهور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5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أربع شرائح ذات أولوية — وأربع رسائل مختلفة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2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لكل شريحة «وظيفة» تشتريها من صِلة، ومخاوفها وقنواتها الخاصة — لا حملة واحدة للجميع.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3231" y="1783080"/>
            <a:ext cx="5449824" cy="19568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7" name="Rectangle 6"/>
          <p:cNvSpPr/>
          <p:nvPr/>
        </p:nvSpPr>
        <p:spPr>
          <a:xfrm>
            <a:off x="11496751" y="2057400"/>
            <a:ext cx="45720" cy="140817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8" name="TextBox 7"/>
          <p:cNvSpPr txBox="1"/>
          <p:nvPr/>
        </p:nvSpPr>
        <p:spPr>
          <a:xfrm>
            <a:off x="6430975" y="1965960"/>
            <a:ext cx="490118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4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مدير / ة علاج الأسرة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350008"/>
            <a:ext cx="488289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يرفع الدواء للأب والأم والأطفال مع سجل طلبات وعنوان محفوظ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47327" y="32644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1" name="TextBox 10"/>
          <p:cNvSpPr txBox="1"/>
          <p:nvPr/>
        </p:nvSpPr>
        <p:spPr>
          <a:xfrm>
            <a:off x="9320479" y="3264408"/>
            <a:ext cx="12252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المخاوف: الاعتمادية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9423" y="3264408"/>
            <a:ext cx="1426464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3" name="TextBox 12"/>
          <p:cNvSpPr txBox="1"/>
          <p:nvPr/>
        </p:nvSpPr>
        <p:spPr>
          <a:xfrm>
            <a:off x="7802575" y="3264408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فيسبوك + واتساب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783080"/>
            <a:ext cx="5449824" cy="19568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5" name="Rectangle 14"/>
          <p:cNvSpPr/>
          <p:nvPr/>
        </p:nvSpPr>
        <p:spPr>
          <a:xfrm>
            <a:off x="5852159" y="2057400"/>
            <a:ext cx="45720" cy="140817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6" name="TextBox 15"/>
          <p:cNvSpPr txBox="1"/>
          <p:nvPr/>
        </p:nvSpPr>
        <p:spPr>
          <a:xfrm>
            <a:off x="786384" y="1965960"/>
            <a:ext cx="490118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4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المريض المزمن / مقدم الرعاية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350008"/>
            <a:ext cx="488289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إعادة طلب شهرية ثابتة وحساسية عالية للتوفّر والبديل الآمن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2735" y="32644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9" name="TextBox 18"/>
          <p:cNvSpPr txBox="1"/>
          <p:nvPr/>
        </p:nvSpPr>
        <p:spPr>
          <a:xfrm>
            <a:off x="3675887" y="3264408"/>
            <a:ext cx="12252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المخاوف: التوفّر الدائم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84831" y="3264408"/>
            <a:ext cx="1426464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1" name="TextBox 20"/>
          <p:cNvSpPr txBox="1"/>
          <p:nvPr/>
        </p:nvSpPr>
        <p:spPr>
          <a:xfrm>
            <a:off x="2157983" y="3264408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تذكّرات + واتساب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3231" y="3877056"/>
            <a:ext cx="5449824" cy="19568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3" name="Rectangle 22"/>
          <p:cNvSpPr/>
          <p:nvPr/>
        </p:nvSpPr>
        <p:spPr>
          <a:xfrm>
            <a:off x="11496751" y="4151376"/>
            <a:ext cx="45720" cy="140817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4" name="TextBox 23"/>
          <p:cNvSpPr txBox="1"/>
          <p:nvPr/>
        </p:nvSpPr>
        <p:spPr>
          <a:xfrm>
            <a:off x="6430975" y="4059936"/>
            <a:ext cx="490118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4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المستخدم الرقمي الشاب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0975" y="4443984"/>
            <a:ext cx="488289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OTC وعناية وفيتامينات — قابل للتجربة والتوصية والتفاعل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47327" y="535838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7" name="TextBox 26"/>
          <p:cNvSpPr txBox="1"/>
          <p:nvPr/>
        </p:nvSpPr>
        <p:spPr>
          <a:xfrm>
            <a:off x="9320479" y="5358384"/>
            <a:ext cx="12252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المخاوف: تجربة سلسة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9423" y="5358384"/>
            <a:ext cx="1426464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9" name="TextBox 28"/>
          <p:cNvSpPr txBox="1"/>
          <p:nvPr/>
        </p:nvSpPr>
        <p:spPr>
          <a:xfrm>
            <a:off x="7802575" y="5358384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تيك توك + إنستغرام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77056"/>
            <a:ext cx="5449824" cy="19568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1" name="Rectangle 30"/>
          <p:cNvSpPr/>
          <p:nvPr/>
        </p:nvSpPr>
        <p:spPr>
          <a:xfrm>
            <a:off x="5852159" y="4151376"/>
            <a:ext cx="45720" cy="140817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2" name="TextBox 31"/>
          <p:cNvSpPr txBox="1"/>
          <p:nvPr/>
        </p:nvSpPr>
        <p:spPr>
          <a:xfrm>
            <a:off x="786384" y="4059936"/>
            <a:ext cx="490118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4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الموظف / الطالب الحضري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4443984"/>
            <a:ext cx="488289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25000"/>
              </a:lnSpc>
            </a:pPr>
            <a:r>
              <a:rPr sz="11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وقت محدود — طلب بسيط ودفع نقدي دون عناء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02735" y="535838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5" name="TextBox 34"/>
          <p:cNvSpPr txBox="1"/>
          <p:nvPr/>
        </p:nvSpPr>
        <p:spPr>
          <a:xfrm>
            <a:off x="3675887" y="5358384"/>
            <a:ext cx="12252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المخاوف: السرعة والزمن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84831" y="5358384"/>
            <a:ext cx="1426464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7" name="TextBox 36"/>
          <p:cNvSpPr txBox="1"/>
          <p:nvPr/>
        </p:nvSpPr>
        <p:spPr>
          <a:xfrm>
            <a:off x="2157983" y="5358384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جغرافي + بحث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6016752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9" name="TextBox 38"/>
          <p:cNvSpPr txBox="1"/>
          <p:nvPr/>
        </p:nvSpPr>
        <p:spPr>
          <a:xfrm>
            <a:off x="822959" y="6016752"/>
            <a:ext cx="10545775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خارج مركز المدينة: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قيمة عالية لكن اقتصاديات التوصيل قد تكون سالبة — يؤجَّل لمرحلة لاحقة أو نقطة استلام.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1" name="TextBox 40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05  •  المنافسة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5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المنافس الحقيقي هو العادة الحالية — لا تطبيق واحد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2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مصفوفة القدرات الست التي يقيسها المريض فعلاً عند اختياره مصدر الدواء.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10512"/>
          <a:ext cx="11091672" cy="34564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62072"/>
                <a:gridCol w="2057400"/>
                <a:gridCol w="2057400"/>
                <a:gridCol w="2057400"/>
                <a:gridCol w="2057400"/>
              </a:tblGrid>
              <a:tr h="603504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FFFFFF"/>
                          </a:solidFill>
                          <a:latin typeface="Cairo"/>
                          <a:ea typeface="Cairo"/>
                          <a:cs typeface="Cairo"/>
                        </a:rPr>
                        <a:t>محور المقارنة</a:t>
                      </a:r>
                    </a:p>
                    <a:p>
                      <a:pPr algn="ctr" rtl="1">
                        <a:spcBef>
                          <a:spcPts val="100"/>
                        </a:spcBef>
                      </a:pPr>
                      <a:r>
                        <a:rPr sz="800" b="0" i="0" lang="ar">
                          <a:solidFill>
                            <a:srgbClr val="94A3B8"/>
                          </a:solidFill>
                          <a:latin typeface="Cairo"/>
                          <a:ea typeface="Cairo"/>
                          <a:cs typeface="Cairo"/>
                        </a:rPr>
                        <a:t/>
                      </a:r>
                    </a:p>
                  </a:txBody>
                  <a:tcPr anchor="ctr" marL="73152" marR="73152" marT="27432" marB="27432">
                    <a:lnB w="19050" cap="flat">
                      <a:solidFill>
                        <a:srgbClr val="0D948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FFFFFF"/>
                          </a:solidFill>
                          <a:latin typeface="Cairo"/>
                          <a:ea typeface="Cairo"/>
                          <a:cs typeface="Cairo"/>
                        </a:rPr>
                        <a:t>هاتف + واتساب</a:t>
                      </a:r>
                    </a:p>
                    <a:p>
                      <a:pPr algn="ctr" rtl="1">
                        <a:spcBef>
                          <a:spcPts val="100"/>
                        </a:spcBef>
                      </a:pPr>
                      <a:r>
                        <a:rPr sz="800" b="0" i="0" lang="ar">
                          <a:solidFill>
                            <a:srgbClr val="94A3B8"/>
                          </a:solidFill>
                          <a:latin typeface="Cairo"/>
                          <a:ea typeface="Cairo"/>
                          <a:cs typeface="Cairo"/>
                        </a:rPr>
                        <a:t>صيدلية الحي</a:t>
                      </a:r>
                    </a:p>
                  </a:txBody>
                  <a:tcPr anchor="ctr" marL="73152" marR="73152" marT="27432" marB="27432">
                    <a:lnB w="19050" cap="flat">
                      <a:solidFill>
                        <a:srgbClr val="0D948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FFFFFF"/>
                          </a:solidFill>
                          <a:latin typeface="Cairo"/>
                          <a:ea typeface="Cairo"/>
                          <a:cs typeface="Cairo"/>
                        </a:rPr>
                        <a:t>تطبيق صيدلية واحدة</a:t>
                      </a:r>
                    </a:p>
                    <a:p>
                      <a:pPr algn="ctr" rtl="1">
                        <a:spcBef>
                          <a:spcPts val="100"/>
                        </a:spcBef>
                      </a:pPr>
                      <a:r>
                        <a:rPr sz="800" b="0" i="0" lang="ar">
                          <a:solidFill>
                            <a:srgbClr val="94A3B8"/>
                          </a:solidFill>
                          <a:latin typeface="Cairo"/>
                          <a:ea typeface="Cairo"/>
                          <a:cs typeface="Cairo"/>
                        </a:rPr>
                        <a:t>نمط El Khabiry</a:t>
                      </a:r>
                    </a:p>
                  </a:txBody>
                  <a:tcPr anchor="ctr" marL="73152" marR="73152" marT="27432" marB="27432">
                    <a:lnB w="19050" cap="flat">
                      <a:solidFill>
                        <a:srgbClr val="0D948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FFFFFF"/>
                          </a:solidFill>
                          <a:latin typeface="Cairo"/>
                          <a:ea typeface="Cairo"/>
                          <a:cs typeface="Cairo"/>
                        </a:rPr>
                        <a:t>دليفري عام</a:t>
                      </a:r>
                    </a:p>
                    <a:p>
                      <a:pPr algn="ctr" rtl="1">
                        <a:spcBef>
                          <a:spcPts val="100"/>
                        </a:spcBef>
                      </a:pPr>
                      <a:r>
                        <a:rPr sz="800" b="0" i="0" lang="ar">
                          <a:solidFill>
                            <a:srgbClr val="94A3B8"/>
                          </a:solidFill>
                          <a:latin typeface="Cairo"/>
                          <a:ea typeface="Cairo"/>
                          <a:cs typeface="Cairo"/>
                        </a:rPr>
                        <a:t>صيدليات Talabat</a:t>
                      </a:r>
                    </a:p>
                  </a:txBody>
                  <a:tcPr anchor="ctr" marL="73152" marR="73152" marT="27432" marB="27432">
                    <a:lnB w="19050" cap="flat">
                      <a:solidFill>
                        <a:srgbClr val="0D948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FFFFFF"/>
                          </a:solidFill>
                          <a:latin typeface="Cairo"/>
                          <a:ea typeface="Cairo"/>
                          <a:cs typeface="Cairo"/>
                        </a:rPr>
                        <a:t>صِلة</a:t>
                      </a:r>
                    </a:p>
                    <a:p>
                      <a:pPr algn="ctr" rtl="1">
                        <a:spcBef>
                          <a:spcPts val="100"/>
                        </a:spcBef>
                      </a:pPr>
                      <a:r>
                        <a:rPr sz="800" b="0" i="0" lang="ar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</a:rPr>
                        <a:t>شبكة صيدليات موثّقة</a:t>
                      </a:r>
                    </a:p>
                  </a:txBody>
                  <a:tcPr anchor="ctr" marL="73152" marR="73152" marT="27432" marB="27432">
                    <a:lnB w="19050" cap="flat">
                      <a:solidFill>
                        <a:srgbClr val="0D9488"/>
                      </a:solidFill>
                    </a:lnB>
                    <a:solidFill>
                      <a:srgbClr val="0D948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0F172A"/>
                          </a:solidFill>
                          <a:latin typeface="Cairo"/>
                          <a:ea typeface="Cairo"/>
                          <a:cs typeface="Cairo"/>
                        </a:rPr>
                        <a:t>ثقة صيدلية مرخّصة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نعم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B45309"/>
                          </a:solidFill>
                          <a:latin typeface="Cairo"/>
                          <a:ea typeface="Cairo"/>
                          <a:cs typeface="Cairo"/>
                        </a:rPr>
                        <a:t>جزئي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 lang="ar">
                          <a:solidFill>
                            <a:srgbClr val="94A3B8"/>
                          </a:solidFill>
                          <a:latin typeface="Cairo"/>
                          <a:ea typeface="Cairo"/>
                          <a:cs typeface="Cairo"/>
                        </a:rPr>
                        <a:t>—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نعم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0F172A"/>
                          </a:solidFill>
                          <a:latin typeface="Cairo"/>
                          <a:ea typeface="Cairo"/>
                          <a:cs typeface="Cairo"/>
                        </a:rPr>
                        <a:t>توفّر مؤكد لحظي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 lang="ar">
                          <a:solidFill>
                            <a:srgbClr val="94A3B8"/>
                          </a:solidFill>
                          <a:latin typeface="Cairo"/>
                          <a:ea typeface="Cairo"/>
                          <a:cs typeface="Cairo"/>
                        </a:rPr>
                        <a:t>—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نعم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 lang="ar">
                          <a:solidFill>
                            <a:srgbClr val="94A3B8"/>
                          </a:solidFill>
                          <a:latin typeface="Cairo"/>
                          <a:ea typeface="Cairo"/>
                          <a:cs typeface="Cairo"/>
                        </a:rPr>
                        <a:t>—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نعم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0F172A"/>
                          </a:solidFill>
                          <a:latin typeface="Cairo"/>
                          <a:ea typeface="Cairo"/>
                          <a:cs typeface="Cairo"/>
                        </a:rPr>
                        <a:t>مقارنة عروض متعددة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 lang="ar">
                          <a:solidFill>
                            <a:srgbClr val="94A3B8"/>
                          </a:solidFill>
                          <a:latin typeface="Cairo"/>
                          <a:ea typeface="Cairo"/>
                          <a:cs typeface="Cairo"/>
                        </a:rPr>
                        <a:t>—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 lang="ar">
                          <a:solidFill>
                            <a:srgbClr val="94A3B8"/>
                          </a:solidFill>
                          <a:latin typeface="Cairo"/>
                          <a:ea typeface="Cairo"/>
                          <a:cs typeface="Cairo"/>
                        </a:rPr>
                        <a:t>—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B45309"/>
                          </a:solidFill>
                          <a:latin typeface="Cairo"/>
                          <a:ea typeface="Cairo"/>
                          <a:cs typeface="Cairo"/>
                        </a:rPr>
                        <a:t>جزئي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نعم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0F172A"/>
                          </a:solidFill>
                          <a:latin typeface="Cairo"/>
                          <a:ea typeface="Cairo"/>
                          <a:cs typeface="Cairo"/>
                        </a:rPr>
                        <a:t>صيدلي متابع للطلب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نعم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B45309"/>
                          </a:solidFill>
                          <a:latin typeface="Cairo"/>
                          <a:ea typeface="Cairo"/>
                          <a:cs typeface="Cairo"/>
                        </a:rPr>
                        <a:t>جزئي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 lang="ar">
                          <a:solidFill>
                            <a:srgbClr val="94A3B8"/>
                          </a:solidFill>
                          <a:latin typeface="Cairo"/>
                          <a:ea typeface="Cairo"/>
                          <a:cs typeface="Cairo"/>
                        </a:rPr>
                        <a:t>—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نعم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0F172A"/>
                          </a:solidFill>
                          <a:latin typeface="Cairo"/>
                          <a:ea typeface="Cairo"/>
                          <a:cs typeface="Cairo"/>
                        </a:rPr>
                        <a:t>توصيل قابل للتتبع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 lang="ar">
                          <a:solidFill>
                            <a:srgbClr val="94A3B8"/>
                          </a:solidFill>
                          <a:latin typeface="Cairo"/>
                          <a:ea typeface="Cairo"/>
                          <a:cs typeface="Cairo"/>
                        </a:rPr>
                        <a:t>—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B45309"/>
                          </a:solidFill>
                          <a:latin typeface="Cairo"/>
                          <a:ea typeface="Cairo"/>
                          <a:cs typeface="Cairo"/>
                        </a:rPr>
                        <a:t>جزئي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نعم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نعم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0F172A"/>
                          </a:solidFill>
                          <a:latin typeface="Cairo"/>
                          <a:ea typeface="Cairo"/>
                          <a:cs typeface="Cairo"/>
                        </a:rPr>
                        <a:t>شبكة محلية أوسع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 lang="ar">
                          <a:solidFill>
                            <a:srgbClr val="94A3B8"/>
                          </a:solidFill>
                          <a:latin typeface="Cairo"/>
                          <a:ea typeface="Cairo"/>
                          <a:cs typeface="Cairo"/>
                        </a:rPr>
                        <a:t>—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 lang="ar">
                          <a:solidFill>
                            <a:srgbClr val="94A3B8"/>
                          </a:solidFill>
                          <a:latin typeface="Cairo"/>
                          <a:ea typeface="Cairo"/>
                          <a:cs typeface="Cairo"/>
                        </a:rPr>
                        <a:t>—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B45309"/>
                          </a:solidFill>
                          <a:latin typeface="Cairo"/>
                          <a:ea typeface="Cairo"/>
                          <a:cs typeface="Cairo"/>
                        </a:rPr>
                        <a:t>جزئي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نعم</a:t>
                      </a:r>
                    </a:p>
                  </a:txBody>
                  <a:tcPr anchor="ctr" marL="128016" marR="128016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31536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9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نعم = قوي      جزئي = محدود      — = غائب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60720"/>
            <a:ext cx="11094415" cy="512064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9" name="TextBox 8"/>
          <p:cNvSpPr txBox="1"/>
          <p:nvPr/>
        </p:nvSpPr>
        <p:spPr>
          <a:xfrm>
            <a:off x="822959" y="5760720"/>
            <a:ext cx="10545775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11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المنافس المباشر (الصيدلية عبر الهاتف) نكسبه شريكاً لا نزاله — </a:t>
            </a:r>
            <a:r>
              <a:rPr sz="11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الميزة الدفاعية: شبكة موثّقة + توفّر مؤكد + صيدلي في الحلقة.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1" name="TextBox 10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06  •  الثقة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5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تحويل الخطر الصحي إلى أصل للعلامة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2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ست ضوابط تشغيلية وتسويقية تُبنى قبل أول حملة — وتُعرض كجزء من القيمة لا كملاحظة قانونية.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7751" y="1783080"/>
            <a:ext cx="3575304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7" name="Rounded Rectangle 6"/>
          <p:cNvSpPr/>
          <p:nvPr/>
        </p:nvSpPr>
        <p:spPr>
          <a:xfrm>
            <a:off x="11185855" y="200253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8" name="TextBox 7"/>
          <p:cNvSpPr txBox="1"/>
          <p:nvPr/>
        </p:nvSpPr>
        <p:spPr>
          <a:xfrm>
            <a:off x="11185855" y="20025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2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7207" y="2020824"/>
            <a:ext cx="275234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المصدر والأصالة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7207" y="2441448"/>
            <a:ext cx="3136392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صيدليات مرخّصة فقط، تصوير وثائق، تدقيق دوري، وبلاغ جودة وتصعيد للجهة المختصة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9567" y="1783080"/>
            <a:ext cx="3575304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2" name="Rounded Rectangle 11"/>
          <p:cNvSpPr/>
          <p:nvPr/>
        </p:nvSpPr>
        <p:spPr>
          <a:xfrm>
            <a:off x="7427671" y="200253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3" name="TextBox 12"/>
          <p:cNvSpPr txBox="1"/>
          <p:nvPr/>
        </p:nvSpPr>
        <p:spPr>
          <a:xfrm>
            <a:off x="7427671" y="20025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2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9023" y="2020824"/>
            <a:ext cx="275234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الأدوية المقيدة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9023" y="2441448"/>
            <a:ext cx="3136392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لا صرف بلا وصفة حيث يلزم، مراجعة صيدلي، ومنع استبدال المادة أو التركيز دون موافقة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1383" y="1783080"/>
            <a:ext cx="3575304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7" name="Rounded Rectangle 16"/>
          <p:cNvSpPr/>
          <p:nvPr/>
        </p:nvSpPr>
        <p:spPr>
          <a:xfrm>
            <a:off x="3669487" y="200253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8" name="TextBox 17"/>
          <p:cNvSpPr txBox="1"/>
          <p:nvPr/>
        </p:nvSpPr>
        <p:spPr>
          <a:xfrm>
            <a:off x="3669487" y="20025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2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" y="2020824"/>
            <a:ext cx="275234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الإعلان الطبي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" y="2441448"/>
            <a:ext cx="3136392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لا وعود علاج أو شفاء ولا إعلانات مضللة — محتوى تثقيفي بمراجعة صيدلي وتدقيق قانوني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7751" y="3776472"/>
            <a:ext cx="3575304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2" name="Rounded Rectangle 21"/>
          <p:cNvSpPr/>
          <p:nvPr/>
        </p:nvSpPr>
        <p:spPr>
          <a:xfrm>
            <a:off x="11185855" y="399592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3" name="TextBox 22"/>
          <p:cNvSpPr txBox="1"/>
          <p:nvPr/>
        </p:nvSpPr>
        <p:spPr>
          <a:xfrm>
            <a:off x="11185855" y="39959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2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7207" y="4014215"/>
            <a:ext cx="275234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الخصوصية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7207" y="4434840"/>
            <a:ext cx="3136392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أقل قدر من البيانات، تشفير أثناء النقل، موافقة صريحة، وحذف الوصفة وفق سياسة معلنة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9567" y="3776472"/>
            <a:ext cx="3575304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7" name="Rounded Rectangle 26"/>
          <p:cNvSpPr/>
          <p:nvPr/>
        </p:nvSpPr>
        <p:spPr>
          <a:xfrm>
            <a:off x="7427671" y="399592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8" name="TextBox 27"/>
          <p:cNvSpPr txBox="1"/>
          <p:nvPr/>
        </p:nvSpPr>
        <p:spPr>
          <a:xfrm>
            <a:off x="7427671" y="39959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2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9023" y="4014215"/>
            <a:ext cx="275234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COD والاحتيال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9023" y="4434840"/>
            <a:ext cx="3136392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تأكيد WhatsApp / OTP، تحديد محاولات، ضوابط للمستخدم عالي الإلغاء، وتسوية يومية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1383" y="3776472"/>
            <a:ext cx="3575304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2" name="Rounded Rectangle 31"/>
          <p:cNvSpPr/>
          <p:nvPr/>
        </p:nvSpPr>
        <p:spPr>
          <a:xfrm>
            <a:off x="3669487" y="399592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3" name="TextBox 32"/>
          <p:cNvSpPr txBox="1"/>
          <p:nvPr/>
        </p:nvSpPr>
        <p:spPr>
          <a:xfrm>
            <a:off x="3669487" y="39959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2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839" y="4014215"/>
            <a:ext cx="275234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سلسلة الحفظ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839" y="4434840"/>
            <a:ext cx="3136392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عبوة مغلقة، حرارة وضوء حسب المنتج، حقيبة مناسبة، وتسليم للشخص الصحيح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742432"/>
            <a:ext cx="11094415" cy="530352"/>
          </a:xfrm>
          <a:prstGeom prst="roundRect">
            <a:avLst>
              <a:gd name="adj" fmla="val 14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7" name="Rectangle 36"/>
          <p:cNvSpPr/>
          <p:nvPr/>
        </p:nvSpPr>
        <p:spPr>
          <a:xfrm>
            <a:off x="11560759" y="5806440"/>
            <a:ext cx="41148" cy="40233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8" name="TextBox 37"/>
          <p:cNvSpPr txBox="1"/>
          <p:nvPr/>
        </p:nvSpPr>
        <p:spPr>
          <a:xfrm>
            <a:off x="841247" y="5742432"/>
            <a:ext cx="10454335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1200" b="1" i="0" lang="ar">
                <a:solidFill>
                  <a:srgbClr val="9F1239"/>
                </a:solidFill>
                <a:latin typeface="Cairo"/>
                <a:ea typeface="Cairo"/>
                <a:cs typeface="Cairo"/>
              </a:rPr>
              <a:t>للخطر الطبي: </a:t>
            </a:r>
            <a:r>
              <a:rPr sz="1200" b="0" i="0" lang="ar">
                <a:solidFill>
                  <a:srgbClr val="9F1239"/>
                </a:solidFill>
                <a:latin typeface="Cairo"/>
                <a:ea typeface="Cairo"/>
                <a:cs typeface="Cairo"/>
              </a:rPr>
              <a:t>اتصل بالطوارئ أو توجه لأقرب مستشفى — التطبيق ليس إسعافاً، و«طلب عاجل» يعني أولوية تشغيل فقط.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0" name="TextBox 39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07  •  الـ 90 يوماً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5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عنقود واحد في بغداد — ثم توسّع مشروط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821637" cy="402336"/>
          </a:xfrm>
          <a:prstGeom prst="roundRect">
            <a:avLst>
              <a:gd name="adj" fmla="val 50000"/>
            </a:avLst>
          </a:prstGeom>
          <a:solidFill>
            <a:srgbClr val="E6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730197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المرحلة 0  •  أسابيع 1–2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5141" y="1737360"/>
            <a:ext cx="3643274" cy="402336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8" name="TextBox 7"/>
          <p:cNvSpPr txBox="1"/>
          <p:nvPr/>
        </p:nvSpPr>
        <p:spPr>
          <a:xfrm>
            <a:off x="2470861" y="1737360"/>
            <a:ext cx="3551834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المرحلة 1  •  أسابيع 3–6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3279" y="1737360"/>
            <a:ext cx="3643274" cy="402336"/>
          </a:xfrm>
          <a:prstGeom prst="roundRect">
            <a:avLst>
              <a:gd name="adj" fmla="val 50000"/>
            </a:avLst>
          </a:prstGeom>
          <a:solidFill>
            <a:srgbClr val="99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0" name="TextBox 9"/>
          <p:cNvSpPr txBox="1"/>
          <p:nvPr/>
        </p:nvSpPr>
        <p:spPr>
          <a:xfrm>
            <a:off x="6168999" y="1737360"/>
            <a:ext cx="3551834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المرحلة 2  •  أسابيع 7–10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1418" y="1737360"/>
            <a:ext cx="1821637" cy="402336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2" name="TextBox 11"/>
          <p:cNvSpPr txBox="1"/>
          <p:nvPr/>
        </p:nvSpPr>
        <p:spPr>
          <a:xfrm>
            <a:off x="9867138" y="1737360"/>
            <a:ext cx="1730197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00" b="1" i="0" lang="ar">
                <a:solidFill>
                  <a:srgbClr val="065F46"/>
                </a:solidFill>
                <a:latin typeface="Cairo"/>
                <a:ea typeface="Cairo"/>
                <a:cs typeface="Cairo"/>
              </a:rPr>
              <a:t>المرحلة 3  •  أسابيع 11–13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2321" y="2359152"/>
            <a:ext cx="2670733" cy="3310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4" name="Rounded Rectangle 13"/>
          <p:cNvSpPr/>
          <p:nvPr/>
        </p:nvSpPr>
        <p:spPr>
          <a:xfrm>
            <a:off x="10564063" y="2542032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5" name="TextBox 14"/>
          <p:cNvSpPr txBox="1"/>
          <p:nvPr/>
        </p:nvSpPr>
        <p:spPr>
          <a:xfrm>
            <a:off x="10564063" y="2542032"/>
            <a:ext cx="89611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المرحلة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5201" y="2542032"/>
            <a:ext cx="134485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إثبات الجاهزية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3489" y="3072384"/>
            <a:ext cx="22683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8000"/>
              </a:lnSpc>
              <a:spcBef>
                <a:spcPts val="40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تحديد عنقود بغداد: الكرادة / الجادرية / المنصور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3489" y="3877056"/>
            <a:ext cx="22683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8000"/>
              </a:lnSpc>
              <a:spcBef>
                <a:spcPts val="40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تدقيق UX بالعربية العراقية والتهجئات البديلة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3489" y="4681728"/>
            <a:ext cx="22683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8000"/>
              </a:lnSpc>
              <a:spcBef>
                <a:spcPts val="40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North Star: طلبات مكتملة وآمنة لكل صيدلية نشطة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4427" y="2359152"/>
            <a:ext cx="2670733" cy="3310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1" name="Rounded Rectangle 20"/>
          <p:cNvSpPr/>
          <p:nvPr/>
        </p:nvSpPr>
        <p:spPr>
          <a:xfrm>
            <a:off x="7756169" y="2542032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2" name="TextBox 21"/>
          <p:cNvSpPr txBox="1"/>
          <p:nvPr/>
        </p:nvSpPr>
        <p:spPr>
          <a:xfrm>
            <a:off x="7756169" y="2542032"/>
            <a:ext cx="89611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المرحلة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7307" y="2542032"/>
            <a:ext cx="134485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كثافة العرض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5595" y="3072384"/>
            <a:ext cx="22683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8000"/>
              </a:lnSpc>
              <a:spcBef>
                <a:spcPts val="40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15–20 صيدلية مرساة بساعات موثوقة ومخزون متنوع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5595" y="3877056"/>
            <a:ext cx="22683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8000"/>
              </a:lnSpc>
              <a:spcBef>
                <a:spcPts val="40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تدريب 60 دقيقة + QR على الكاونتر + واتساب تشغيلي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5595" y="4681728"/>
            <a:ext cx="22683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8000"/>
              </a:lnSpc>
              <a:spcBef>
                <a:spcPts val="40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كباتن ضمن نصف قطر صغير بحقيبة وهوية واضحة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56533" y="2359152"/>
            <a:ext cx="2670733" cy="3310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8" name="Rounded Rectangle 27"/>
          <p:cNvSpPr/>
          <p:nvPr/>
        </p:nvSpPr>
        <p:spPr>
          <a:xfrm>
            <a:off x="4948275" y="2542032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9" name="TextBox 28"/>
          <p:cNvSpPr txBox="1"/>
          <p:nvPr/>
        </p:nvSpPr>
        <p:spPr>
          <a:xfrm>
            <a:off x="4948275" y="2542032"/>
            <a:ext cx="89611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المرحلة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9413" y="2542032"/>
            <a:ext cx="134485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طلب محلي مقاس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701" y="3072384"/>
            <a:ext cx="22683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8000"/>
              </a:lnSpc>
              <a:spcBef>
                <a:spcPts val="40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حملة «ابحث عن دوائك قبل أن تطلع» + QR في العيادات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7701" y="3877056"/>
            <a:ext cx="22683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8000"/>
              </a:lnSpc>
              <a:spcBef>
                <a:spcPts val="40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Meta جغرافي + Search للنية العالية + TikTok للاعتياد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7701" y="4681728"/>
            <a:ext cx="22683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8000"/>
              </a:lnSpc>
              <a:spcBef>
                <a:spcPts val="40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إحالة برصيد توصيل وإعادة استهداف بموافقة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39" y="2359152"/>
            <a:ext cx="2670733" cy="3310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5" name="Rounded Rectangle 34"/>
          <p:cNvSpPr/>
          <p:nvPr/>
        </p:nvSpPr>
        <p:spPr>
          <a:xfrm>
            <a:off x="2140381" y="2542032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6" name="TextBox 35"/>
          <p:cNvSpPr txBox="1"/>
          <p:nvPr/>
        </p:nvSpPr>
        <p:spPr>
          <a:xfrm>
            <a:off x="2140381" y="2542032"/>
            <a:ext cx="89611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المرحلة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19" y="2542032"/>
            <a:ext cx="134485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تحسين وتوسيع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" y="3072384"/>
            <a:ext cx="22683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8000"/>
              </a:lnSpc>
              <a:spcBef>
                <a:spcPts val="40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اختبار 3 رسائل وعرضين وأسلوبَي onboarding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" y="3877056"/>
            <a:ext cx="22683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8000"/>
              </a:lnSpc>
              <a:spcBef>
                <a:spcPts val="40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توسيع منطقة واحدة فقط إذا تحققت الكثافة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" y="4681728"/>
            <a:ext cx="226839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8000"/>
              </a:lnSpc>
              <a:spcBef>
                <a:spcPts val="400"/>
              </a:spcBef>
            </a:pPr>
            <a:r>
              <a:rPr sz="1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Playbook للبصرة / النجف / كربلاء مع شريك محلي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870448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2" name="TextBox 41"/>
          <p:cNvSpPr txBox="1"/>
          <p:nvPr/>
        </p:nvSpPr>
        <p:spPr>
          <a:xfrm>
            <a:off x="841247" y="5870448"/>
            <a:ext cx="10509199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1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قاعدة التوسّع:  </a:t>
            </a:r>
            <a:r>
              <a:rPr sz="11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ثلاثة عروض قابلة للمقارنة على الأقل لكل طلب + قبول 80% على الأقل خلال SLA — وإلا واصل بناء الكثافة.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4" name="TextBox 43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08  •  السوق الثنائي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5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لا طلب بلا عرض — ولا عرض بلا طلب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2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آلة بيع ميدانية للصيدليات، وحزمة كباتن محلية، ورسالة تبيع الشراكة لا المنصة.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3231" y="1755648"/>
            <a:ext cx="5449824" cy="3310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7" name="TextBox 6"/>
          <p:cNvSpPr txBox="1"/>
          <p:nvPr/>
        </p:nvSpPr>
        <p:spPr>
          <a:xfrm>
            <a:off x="6430975" y="1938528"/>
            <a:ext cx="499262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4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آلة بيع الصيدليات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267712"/>
            <a:ext cx="499262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000" b="0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خطوات ميدانية موحّدة لكل زيارة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12703" y="267004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0" name="TextBox 9"/>
          <p:cNvSpPr txBox="1"/>
          <p:nvPr/>
        </p:nvSpPr>
        <p:spPr>
          <a:xfrm>
            <a:off x="11112703" y="267004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15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651760"/>
            <a:ext cx="458114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قائمة — </a:t>
            </a: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خرائط + نقابة + إحالات الموزعين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12703" y="3140964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3" name="TextBox 12"/>
          <p:cNvSpPr txBox="1"/>
          <p:nvPr/>
        </p:nvSpPr>
        <p:spPr>
          <a:xfrm>
            <a:off x="11112703" y="31409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15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0975" y="3122676"/>
            <a:ext cx="458114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تأهيل — </a:t>
            </a: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ترخيص وساعات وتغطية وقبول COD وشخص القرار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12703" y="3611880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6" name="TextBox 15"/>
          <p:cNvSpPr txBox="1"/>
          <p:nvPr/>
        </p:nvSpPr>
        <p:spPr>
          <a:xfrm>
            <a:off x="11112703" y="361188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15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0975" y="3593592"/>
            <a:ext cx="458114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عرض 15 دقيقة — </a:t>
            </a: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طلب حي من هاتف المندوب — لا شرائح فقط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12703" y="408279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9" name="TextBox 18"/>
          <p:cNvSpPr txBox="1"/>
          <p:nvPr/>
        </p:nvSpPr>
        <p:spPr>
          <a:xfrm>
            <a:off x="11112703" y="408279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15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0975" y="4064508"/>
            <a:ext cx="458114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تفعيل في الموقع — </a:t>
            </a: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QR + أعلى 200 SKU أو ربط مخزون + تدريب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12703" y="4553712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2" name="TextBox 21"/>
          <p:cNvSpPr txBox="1"/>
          <p:nvPr/>
        </p:nvSpPr>
        <p:spPr>
          <a:xfrm>
            <a:off x="11112703" y="455371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15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0975" y="4535424"/>
            <a:ext cx="458114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نجاح — </a:t>
            </a: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اتصال بعد 48 ساعة و7 أيام + زيارة أسبوعية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755648"/>
            <a:ext cx="5449824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5" name="Rectangle 24"/>
          <p:cNvSpPr/>
          <p:nvPr/>
        </p:nvSpPr>
        <p:spPr>
          <a:xfrm>
            <a:off x="5929883" y="1975104"/>
            <a:ext cx="45720" cy="93268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6" name="TextBox 25"/>
          <p:cNvSpPr txBox="1"/>
          <p:nvPr/>
        </p:nvSpPr>
        <p:spPr>
          <a:xfrm>
            <a:off x="822959" y="1956816"/>
            <a:ext cx="4809744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2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«لا نملك مخزونك ولا نفرض سعرك. نرسل لك مرضى يبحثون عن دواء متوفر لديك — وأنت تقبل أو ترفض من لوحة واضحة.»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743200"/>
            <a:ext cx="480974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9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الرسالة البيعية لصيدليتك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255264"/>
            <a:ext cx="5449824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9" name="TextBox 28"/>
          <p:cNvSpPr txBox="1"/>
          <p:nvPr/>
        </p:nvSpPr>
        <p:spPr>
          <a:xfrm>
            <a:off x="786384" y="3419856"/>
            <a:ext cx="4992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3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باقة الشريك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767328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</a:pPr>
            <a:r>
              <a:rPr sz="105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تسجيل ومراجعة مجانيان — عمولة على الطلب المكتمل فقط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133088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</a:pPr>
            <a:r>
              <a:rPr sz="105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صفحة موثّقة وتقييمات بعد التسليم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498848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</a:pPr>
            <a:r>
              <a:rPr sz="105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تحكم كامل بالسعر والعروض وسجل تسويات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864608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</a:pPr>
            <a:r>
              <a:rPr sz="105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•  </a:t>
            </a: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حوافز مرتبطة بالجودة — لا مقابل إدراج دواء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230368"/>
            <a:ext cx="11094415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5" name="TextBox 34"/>
          <p:cNvSpPr txBox="1"/>
          <p:nvPr/>
        </p:nvSpPr>
        <p:spPr>
          <a:xfrm>
            <a:off x="9448495" y="5230368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3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محرك الكباتن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230368"/>
            <a:ext cx="1560515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100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تجنيد ضمن نصف قطر صغير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93203" y="5404104"/>
            <a:ext cx="1097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8" name="TextBox 37"/>
          <p:cNvSpPr txBox="1"/>
          <p:nvPr/>
        </p:nvSpPr>
        <p:spPr>
          <a:xfrm>
            <a:off x="2630363" y="5230368"/>
            <a:ext cx="1560515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100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حقيبة ولباس وهوية موثوقة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36598" y="5404104"/>
            <a:ext cx="1097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0" name="TextBox 39"/>
          <p:cNvSpPr txBox="1"/>
          <p:nvPr/>
        </p:nvSpPr>
        <p:spPr>
          <a:xfrm>
            <a:off x="4373758" y="5230368"/>
            <a:ext cx="1560515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100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سجل أرباح وخريطة واضحة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79993" y="5404104"/>
            <a:ext cx="1097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2" name="TextBox 41"/>
          <p:cNvSpPr txBox="1"/>
          <p:nvPr/>
        </p:nvSpPr>
        <p:spPr>
          <a:xfrm>
            <a:off x="6117153" y="5230368"/>
            <a:ext cx="1560515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100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تسوية يومية دقيقة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3388" y="5404104"/>
            <a:ext cx="1097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4" name="TextBox 43"/>
          <p:cNvSpPr txBox="1"/>
          <p:nvPr/>
        </p:nvSpPr>
        <p:spPr>
          <a:xfrm>
            <a:off x="7860548" y="5230368"/>
            <a:ext cx="1560515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100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قياس الدخل لكل ساعة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20000"/>
              </a:lnSpc>
            </a:pPr>
            <a:r>
              <a:rPr sz="100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اعتراضات شائعة:  </a:t>
            </a:r>
            <a:r>
              <a:rPr sz="10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«عندي واتساب» → يضاف له لا يُلغى   •   «العمولة مرتفعة» → اختبر 30 يوماً واقس الصافي   •   «أخشى الوصفات» → الصيدلي يقرر مع سجل تصعيد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7" name="TextBox 46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09  •  الطلب B2C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5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خمس حملات — وخمس قنوات واضحة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2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كل قناة لها وظيفة واحدة: جلب العائلات، بناء العادة، أو تأمين الخدمة — لا قناة تعمل بلا هدف.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7751" y="1737360"/>
            <a:ext cx="3575304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7" name="TextBox 6"/>
          <p:cNvSpPr txBox="1"/>
          <p:nvPr/>
        </p:nvSpPr>
        <p:spPr>
          <a:xfrm>
            <a:off x="9768535" y="1737360"/>
            <a:ext cx="173736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فيسبوك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2343" y="1737360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9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العائلة والأحياء + Click-to-WhatsApp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6143" y="1737360"/>
            <a:ext cx="3575304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0" name="TextBox 9"/>
          <p:cNvSpPr txBox="1"/>
          <p:nvPr/>
        </p:nvSpPr>
        <p:spPr>
          <a:xfrm>
            <a:off x="6046927" y="1737360"/>
            <a:ext cx="173736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إنستغرام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0735" y="1737360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9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Reels وقصص الصيدلي + إعادة استهداف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" y="1737360"/>
            <a:ext cx="3575304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3" name="TextBox 12"/>
          <p:cNvSpPr txBox="1"/>
          <p:nvPr/>
        </p:nvSpPr>
        <p:spPr>
          <a:xfrm>
            <a:off x="2325319" y="1737360"/>
            <a:ext cx="173736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تيك توك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" y="1737360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9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مواقف إنسانية 20–30 ث — بلا قبل/بعد طبي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7751" y="2414015"/>
            <a:ext cx="3575304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6" name="TextBox 15"/>
          <p:cNvSpPr txBox="1"/>
          <p:nvPr/>
        </p:nvSpPr>
        <p:spPr>
          <a:xfrm>
            <a:off x="9768535" y="2414015"/>
            <a:ext cx="173736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واتساب 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343" y="2414015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9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تأكيد وتحديثات وإعادة طلب بموافقة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6143" y="2414015"/>
            <a:ext cx="3575304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9" name="TextBox 18"/>
          <p:cNvSpPr txBox="1"/>
          <p:nvPr/>
        </p:nvSpPr>
        <p:spPr>
          <a:xfrm>
            <a:off x="6046927" y="2414015"/>
            <a:ext cx="173736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ميداني ومجتمعي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0735" y="2414015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9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QR في صيدليات وعيادات ومختبرات وجامعات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" y="2414015"/>
            <a:ext cx="3575304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2" name="TextBox 21"/>
          <p:cNvSpPr txBox="1"/>
          <p:nvPr/>
        </p:nvSpPr>
        <p:spPr>
          <a:xfrm>
            <a:off x="2325319" y="2414015"/>
            <a:ext cx="173736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ASO / SEO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" y="2414015"/>
            <a:ext cx="13716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9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«توصيل دواء بغداد» • «رفع وصفة»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70476" y="3054096"/>
            <a:ext cx="2072579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5" name="Rounded Rectangle 24"/>
          <p:cNvSpPr/>
          <p:nvPr/>
        </p:nvSpPr>
        <p:spPr>
          <a:xfrm>
            <a:off x="10451317" y="32369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6" name="TextBox 25"/>
          <p:cNvSpPr txBox="1"/>
          <p:nvPr/>
        </p:nvSpPr>
        <p:spPr>
          <a:xfrm>
            <a:off x="10451317" y="32369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20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8492" y="3675887"/>
            <a:ext cx="18165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11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«لا تلف بغداد»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6780" y="4023360"/>
            <a:ext cx="1779971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ct val="125000"/>
              </a:lnSpc>
            </a:pPr>
            <a:r>
              <a:rPr sz="9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مشهد عائلي: بحث، رفع وصفة، عروض، وصول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16780" y="4754879"/>
            <a:ext cx="1779971" cy="329184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0" name="TextBox 29"/>
          <p:cNvSpPr txBox="1"/>
          <p:nvPr/>
        </p:nvSpPr>
        <p:spPr>
          <a:xfrm>
            <a:off x="9716780" y="4754879"/>
            <a:ext cx="1779971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sz="8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صوّر وصفتك وخلي صِلة تدور لك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017" y="3054096"/>
            <a:ext cx="2072579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2" name="Rounded Rectangle 31"/>
          <p:cNvSpPr/>
          <p:nvPr/>
        </p:nvSpPr>
        <p:spPr>
          <a:xfrm>
            <a:off x="8195858" y="32369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3" name="TextBox 32"/>
          <p:cNvSpPr txBox="1"/>
          <p:nvPr/>
        </p:nvSpPr>
        <p:spPr>
          <a:xfrm>
            <a:off x="8195858" y="32369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20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3033" y="3675887"/>
            <a:ext cx="18165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11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«متوفر فعلاً»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1321" y="4023360"/>
            <a:ext cx="1779971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ct val="125000"/>
              </a:lnSpc>
            </a:pPr>
            <a:r>
              <a:rPr sz="9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الصيدلية والمسافة والسعر قبل الخروج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61321" y="4754879"/>
            <a:ext cx="1779971" cy="329184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7" name="TextBox 36"/>
          <p:cNvSpPr txBox="1"/>
          <p:nvPr/>
        </p:nvSpPr>
        <p:spPr>
          <a:xfrm>
            <a:off x="7461321" y="4754879"/>
            <a:ext cx="1779971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sz="8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اعرف قبل لا تطلع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59558" y="3054096"/>
            <a:ext cx="2072579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9" name="Rounded Rectangle 38"/>
          <p:cNvSpPr/>
          <p:nvPr/>
        </p:nvSpPr>
        <p:spPr>
          <a:xfrm>
            <a:off x="5940399" y="32369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0" name="TextBox 39"/>
          <p:cNvSpPr txBox="1"/>
          <p:nvPr/>
        </p:nvSpPr>
        <p:spPr>
          <a:xfrm>
            <a:off x="5940399" y="32369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20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7574" y="3675887"/>
            <a:ext cx="18165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11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«صِلة لأهلي»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05862" y="4023360"/>
            <a:ext cx="1779971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ct val="125000"/>
              </a:lnSpc>
            </a:pPr>
            <a:r>
              <a:rPr sz="9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ابن يطلب لوالديه بعنوان محفوظ وتحديثات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05862" y="4754879"/>
            <a:ext cx="1779971" cy="329184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4" name="TextBox 43"/>
          <p:cNvSpPr txBox="1"/>
          <p:nvPr/>
        </p:nvSpPr>
        <p:spPr>
          <a:xfrm>
            <a:off x="5205862" y="4754879"/>
            <a:ext cx="1779971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sz="8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خلّي دواء أهلك أقرب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04099" y="3054096"/>
            <a:ext cx="2072579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6" name="Rounded Rectangle 45"/>
          <p:cNvSpPr/>
          <p:nvPr/>
        </p:nvSpPr>
        <p:spPr>
          <a:xfrm>
            <a:off x="3684940" y="32369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7" name="TextBox 46"/>
          <p:cNvSpPr txBox="1"/>
          <p:nvPr/>
        </p:nvSpPr>
        <p:spPr>
          <a:xfrm>
            <a:off x="3684940" y="32369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20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32115" y="3675887"/>
            <a:ext cx="18165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11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«صيدليتك أقرب»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50403" y="4023360"/>
            <a:ext cx="1779971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ct val="125000"/>
              </a:lnSpc>
            </a:pPr>
            <a:r>
              <a:rPr sz="9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B2B: الصيدلي يقبل طلباً حقيقياً من لوحته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50403" y="4754879"/>
            <a:ext cx="1779971" cy="329184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1" name="TextBox 50"/>
          <p:cNvSpPr txBox="1"/>
          <p:nvPr/>
        </p:nvSpPr>
        <p:spPr>
          <a:xfrm>
            <a:off x="2950403" y="4754879"/>
            <a:ext cx="1779971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sz="8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سجّل مجاناً — والاعتماد أولاً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39" y="3054096"/>
            <a:ext cx="2072579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3" name="Rounded Rectangle 52"/>
          <p:cNvSpPr/>
          <p:nvPr/>
        </p:nvSpPr>
        <p:spPr>
          <a:xfrm>
            <a:off x="1429481" y="32369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4" name="TextBox 53"/>
          <p:cNvSpPr txBox="1"/>
          <p:nvPr/>
        </p:nvSpPr>
        <p:spPr>
          <a:xfrm>
            <a:off x="1429481" y="323697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20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5" y="3675887"/>
            <a:ext cx="181654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11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«الكابتن الموثوق»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3" y="4023360"/>
            <a:ext cx="1779971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ct val="125000"/>
              </a:lnSpc>
            </a:pPr>
            <a:r>
              <a:rPr sz="90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هوية وحقيبة وتوقيع تسليم — بلا تصوير دون موافقة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4943" y="4754879"/>
            <a:ext cx="1779971" cy="329184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8" name="TextBox 57"/>
          <p:cNvSpPr txBox="1"/>
          <p:nvPr/>
        </p:nvSpPr>
        <p:spPr>
          <a:xfrm>
            <a:off x="694943" y="4754879"/>
            <a:ext cx="1779971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sz="8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الثقة توصل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5486400"/>
            <a:ext cx="11094415" cy="512064"/>
          </a:xfrm>
          <a:prstGeom prst="roundRect">
            <a:avLst>
              <a:gd name="adj" fmla="val 14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60" name="Rectangle 59"/>
          <p:cNvSpPr/>
          <p:nvPr/>
        </p:nvSpPr>
        <p:spPr>
          <a:xfrm>
            <a:off x="11560759" y="5550408"/>
            <a:ext cx="41148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61" name="TextBox 60"/>
          <p:cNvSpPr txBox="1"/>
          <p:nvPr/>
        </p:nvSpPr>
        <p:spPr>
          <a:xfrm>
            <a:off x="841247" y="5486400"/>
            <a:ext cx="10454335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100" b="1" i="0" lang="ar">
                <a:solidFill>
                  <a:srgbClr val="B45309"/>
                </a:solidFill>
                <a:latin typeface="Cairo"/>
                <a:ea typeface="Cairo"/>
                <a:cs typeface="Cairo"/>
              </a:rPr>
              <a:t>لهجة عراقية منضبطة — لا نقول أبداً:  </a:t>
            </a:r>
            <a:r>
              <a:rPr sz="1100" b="0" i="0" lang="ar">
                <a:solidFill>
                  <a:srgbClr val="B45309"/>
                </a:solidFill>
                <a:latin typeface="Cairo"/>
                <a:ea typeface="Cairo"/>
                <a:cs typeface="Cairo"/>
              </a:rPr>
              <a:t>«يشفي»  •  «مضمون 100%»  •  «أسرع إسعاف»  •  «أرخص دواء»  •  تشجيع علاج بلا وصفة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63" name="TextBox 62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10  •  الأداء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5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أهداف الـ 90 يوماً — تُقاس، لا تُوعد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2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North Star:  </a:t>
            </a:r>
            <a:r>
              <a:rPr sz="12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طلبات دوائية مكتملة وآمنة لكل صيدلية نشطة — لا تنزيلات.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72321" y="1956816"/>
            <a:ext cx="2670733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7" name="Rounded Rectangle 6"/>
          <p:cNvSpPr/>
          <p:nvPr/>
        </p:nvSpPr>
        <p:spPr>
          <a:xfrm>
            <a:off x="11185855" y="21579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8" name="TextBox 7"/>
          <p:cNvSpPr txBox="1"/>
          <p:nvPr/>
        </p:nvSpPr>
        <p:spPr>
          <a:xfrm>
            <a:off x="11185855" y="2157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3489" y="2139696"/>
            <a:ext cx="1893493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3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3489" y="2798064"/>
            <a:ext cx="226839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صيدلية معتمدة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3489" y="3090672"/>
            <a:ext cx="226839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900" b="0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في عنقود الإطلاق — منها 40 نشطة أسبوعياً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1956816"/>
            <a:ext cx="2670733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3" name="Rounded Rectangle 12"/>
          <p:cNvSpPr/>
          <p:nvPr/>
        </p:nvSpPr>
        <p:spPr>
          <a:xfrm>
            <a:off x="8377961" y="21579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4" name="TextBox 13"/>
          <p:cNvSpPr txBox="1"/>
          <p:nvPr/>
        </p:nvSpPr>
        <p:spPr>
          <a:xfrm>
            <a:off x="8377961" y="2157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5595" y="2139696"/>
            <a:ext cx="1893493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3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3,000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5595" y="2798064"/>
            <a:ext cx="226839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طلب مكتمل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5595" y="3090672"/>
            <a:ext cx="226839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900" b="0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خلال أول 90 يوماً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6533" y="1956816"/>
            <a:ext cx="2670733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9" name="Rounded Rectangle 18"/>
          <p:cNvSpPr/>
          <p:nvPr/>
        </p:nvSpPr>
        <p:spPr>
          <a:xfrm>
            <a:off x="5570067" y="21579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0" name="TextBox 19"/>
          <p:cNvSpPr txBox="1"/>
          <p:nvPr/>
        </p:nvSpPr>
        <p:spPr>
          <a:xfrm>
            <a:off x="5570067" y="2157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701" y="2139696"/>
            <a:ext cx="1893493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3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7701" y="2798064"/>
            <a:ext cx="226839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حد أدنى لملء الطلب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7701" y="3090672"/>
            <a:ext cx="226839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900" b="0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ضمن ساعات الخدمة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39" y="1956816"/>
            <a:ext cx="2670733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5" name="Rounded Rectangle 24"/>
          <p:cNvSpPr/>
          <p:nvPr/>
        </p:nvSpPr>
        <p:spPr>
          <a:xfrm>
            <a:off x="2762173" y="21579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6" name="TextBox 25"/>
          <p:cNvSpPr txBox="1"/>
          <p:nvPr/>
        </p:nvSpPr>
        <p:spPr>
          <a:xfrm>
            <a:off x="2762173" y="2157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" y="2139696"/>
            <a:ext cx="1893493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3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5 دقائق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" y="2798064"/>
            <a:ext cx="226839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حد أقصى لوسطي قبول الصيدلية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" y="3090672"/>
            <a:ext cx="226839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900" b="0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يُقاس لا يُوعد به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321" y="3749039"/>
            <a:ext cx="2670733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1" name="Rounded Rectangle 30"/>
          <p:cNvSpPr/>
          <p:nvPr/>
        </p:nvSpPr>
        <p:spPr>
          <a:xfrm>
            <a:off x="11185855" y="395020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2" name="TextBox 31"/>
          <p:cNvSpPr txBox="1"/>
          <p:nvPr/>
        </p:nvSpPr>
        <p:spPr>
          <a:xfrm>
            <a:off x="11185855" y="395020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3489" y="3931920"/>
            <a:ext cx="1893493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3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60 دقيقة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3489" y="4590288"/>
            <a:ext cx="226839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حد أقصى للتوصيل الحضري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3489" y="4882896"/>
            <a:ext cx="226839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900" b="0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للطلبات الجاهزة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4427" y="3749039"/>
            <a:ext cx="2670733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7" name="Rounded Rectangle 36"/>
          <p:cNvSpPr/>
          <p:nvPr/>
        </p:nvSpPr>
        <p:spPr>
          <a:xfrm>
            <a:off x="8377961" y="395020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8" name="TextBox 37"/>
          <p:cNvSpPr txBox="1"/>
          <p:nvPr/>
        </p:nvSpPr>
        <p:spPr>
          <a:xfrm>
            <a:off x="8377961" y="395020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5595" y="3931920"/>
            <a:ext cx="1893493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3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25%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5595" y="4590288"/>
            <a:ext cx="226839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حد أدنى لإعادة الشراء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5595" y="4882896"/>
            <a:ext cx="226839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900" b="0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بعد 30 يوماً — غير الطارئ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56533" y="3749039"/>
            <a:ext cx="2670733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3" name="Rounded Rectangle 42"/>
          <p:cNvSpPr/>
          <p:nvPr/>
        </p:nvSpPr>
        <p:spPr>
          <a:xfrm>
            <a:off x="5570067" y="395020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4" name="TextBox 43"/>
          <p:cNvSpPr txBox="1"/>
          <p:nvPr/>
        </p:nvSpPr>
        <p:spPr>
          <a:xfrm>
            <a:off x="5570067" y="395020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57701" y="3931920"/>
            <a:ext cx="1893493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3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12%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57701" y="4590288"/>
            <a:ext cx="226839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حد أقصى لإلغاء COD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57701" y="4882896"/>
            <a:ext cx="226839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900" b="0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مع تسوية يومية للكابتن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39" y="3749039"/>
            <a:ext cx="2670733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9" name="Rounded Rectangle 48"/>
          <p:cNvSpPr/>
          <p:nvPr/>
        </p:nvSpPr>
        <p:spPr>
          <a:xfrm>
            <a:off x="2762173" y="395020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0" name="TextBox 49"/>
          <p:cNvSpPr txBox="1"/>
          <p:nvPr/>
        </p:nvSpPr>
        <p:spPr>
          <a:xfrm>
            <a:off x="2762173" y="395020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90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" y="3931920"/>
            <a:ext cx="1893493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30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" y="4590288"/>
            <a:ext cx="226839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شكاوى دواء حرجة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" y="4882896"/>
            <a:ext cx="226839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900" b="0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تطابق وسلامة — صفرية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596128"/>
            <a:ext cx="11094415" cy="512064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5" name="TextBox 54"/>
          <p:cNvSpPr txBox="1"/>
          <p:nvPr/>
        </p:nvSpPr>
        <p:spPr>
          <a:xfrm>
            <a:off x="841247" y="5596128"/>
            <a:ext cx="10509199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11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قاعدة التوقف:  </a:t>
            </a:r>
            <a:r>
              <a:rPr sz="110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لا توسّع جغرافياً إذا كانت المساهمة لكل طلب سالبة بعد الخصم، أو انخفضت السلامة والتسليم عن SLA.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7" name="TextBox 56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11  •  القرار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5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خمسة قرارات تبدأ هذا الأسبوع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2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العرض لا ينتهي بشعار — بل بطلبات قرار واضحة يمكن اتخاذها في نفس الاجتماع.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4415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7" name="Oval 6"/>
          <p:cNvSpPr/>
          <p:nvPr/>
        </p:nvSpPr>
        <p:spPr>
          <a:xfrm>
            <a:off x="11076127" y="192024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8" name="TextBox 7"/>
          <p:cNvSpPr txBox="1"/>
          <p:nvPr/>
        </p:nvSpPr>
        <p:spPr>
          <a:xfrm>
            <a:off x="11076127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40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اعتماد عنقود الإطلاق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938528"/>
            <a:ext cx="10972" cy="34747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1" name="TextBox 10"/>
          <p:cNvSpPr txBox="1"/>
          <p:nvPr/>
        </p:nvSpPr>
        <p:spPr>
          <a:xfrm>
            <a:off x="5120640" y="1783080"/>
            <a:ext cx="583661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20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الكرادة / الجادرية / المنصور — حتى يصبح الوعد «متاحاً فعلاً»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11094415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3" name="Oval 12"/>
          <p:cNvSpPr/>
          <p:nvPr/>
        </p:nvSpPr>
        <p:spPr>
          <a:xfrm>
            <a:off x="11076127" y="2697479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4" name="TextBox 13"/>
          <p:cNvSpPr txBox="1"/>
          <p:nvPr/>
        </p:nvSpPr>
        <p:spPr>
          <a:xfrm>
            <a:off x="11076127" y="269747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40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560320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ميزانية اختبار Pilot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2715768"/>
            <a:ext cx="10972" cy="34747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7" name="TextBox 16"/>
          <p:cNvSpPr txBox="1"/>
          <p:nvPr/>
        </p:nvSpPr>
        <p:spPr>
          <a:xfrm>
            <a:off x="5120640" y="2560320"/>
            <a:ext cx="583661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20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14 يوماً للقياس لا للتوسع: time-to-first-offer و contribution/order قبل أي إنفاق إضافي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37560"/>
            <a:ext cx="11094415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9" name="Oval 18"/>
          <p:cNvSpPr/>
          <p:nvPr/>
        </p:nvSpPr>
        <p:spPr>
          <a:xfrm>
            <a:off x="11076127" y="347472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0" name="TextBox 19"/>
          <p:cNvSpPr txBox="1"/>
          <p:nvPr/>
        </p:nvSpPr>
        <p:spPr>
          <a:xfrm>
            <a:off x="11076127" y="3474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40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337560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مسؤول امتثال وسلامة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3493008"/>
            <a:ext cx="10972" cy="34747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3" name="TextBox 22"/>
          <p:cNvSpPr txBox="1"/>
          <p:nvPr/>
        </p:nvSpPr>
        <p:spPr>
          <a:xfrm>
            <a:off x="5120640" y="3337560"/>
            <a:ext cx="583661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20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صيدلي مرخّص بصلاحيات على الوصفات والفئات المحظورة والتصعيد وسجل التدقيق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11094415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5" name="Oval 24"/>
          <p:cNvSpPr/>
          <p:nvPr/>
        </p:nvSpPr>
        <p:spPr>
          <a:xfrm>
            <a:off x="11076127" y="425196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6" name="TextBox 25"/>
          <p:cNvSpPr txBox="1"/>
          <p:nvPr/>
        </p:nvSpPr>
        <p:spPr>
          <a:xfrm>
            <a:off x="11076127" y="4251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40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114800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20 صيدلية مرساة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4270248"/>
            <a:ext cx="10972" cy="34747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29" name="TextBox 28"/>
          <p:cNvSpPr txBox="1"/>
          <p:nvPr/>
        </p:nvSpPr>
        <p:spPr>
          <a:xfrm>
            <a:off x="5120640" y="4114800"/>
            <a:ext cx="583661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20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بساعات موثوقة وكثافة مخزون — ثم تجلب الطلب حولها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92040"/>
            <a:ext cx="11094415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1" name="Oval 30"/>
          <p:cNvSpPr/>
          <p:nvPr/>
        </p:nvSpPr>
        <p:spPr>
          <a:xfrm>
            <a:off x="11076127" y="502920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2" name="TextBox 31"/>
          <p:cNvSpPr txBox="1"/>
          <p:nvPr/>
        </p:nvSpPr>
        <p:spPr>
          <a:xfrm>
            <a:off x="11076127" y="50292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40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892040"/>
            <a:ext cx="393192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/>
            <a:r>
              <a:rPr sz="13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تاريخ Pilot محدد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5047488"/>
            <a:ext cx="10972" cy="34747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5" name="TextBox 34"/>
          <p:cNvSpPr txBox="1"/>
          <p:nvPr/>
        </p:nvSpPr>
        <p:spPr>
          <a:xfrm>
            <a:off x="5120640" y="4892040"/>
            <a:ext cx="583661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20000"/>
              </a:lnSpc>
            </a:pPr>
            <a:r>
              <a:rPr sz="10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مع اجتماع أسبوعي: Growth / Operations / Safety على نفس لوحة المؤشرات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70448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7" name="TextBox 36"/>
          <p:cNvSpPr txBox="1"/>
          <p:nvPr/>
        </p:nvSpPr>
        <p:spPr>
          <a:xfrm>
            <a:off x="841247" y="5870448"/>
            <a:ext cx="10509199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rtl="1">
              <a:lnSpc>
                <a:spcPct val="110000"/>
              </a:lnSpc>
            </a:pPr>
            <a:r>
              <a:rPr sz="11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الخطوة الأولى:  </a:t>
            </a:r>
            <a:r>
              <a:rPr sz="11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45 مقابلة ميدانية + صفحة هبوط للصيدليات بمؤشر «اعتماد صيدلية» قابل للإثبات + تحليلات موحّدة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9" name="TextBox 38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TextBox 2"/>
          <p:cNvSpPr txBox="1"/>
          <p:nvPr/>
        </p:nvSpPr>
        <p:spPr>
          <a:xfrm>
            <a:off x="548640" y="40233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100" b="1" i="0" lang="ar">
                <a:solidFill>
                  <a:srgbClr val="0D9488"/>
                </a:solidFill>
                <a:latin typeface="Cairo"/>
                <a:ea typeface="Cairo"/>
                <a:cs typeface="Cairo"/>
              </a:rPr>
              <a:t>12  •  التنفيذ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50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قائمة تنفيذ فورية — خلال 7 أيام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250" b="0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تسلسل مقصود: ما يُثبَت قبل أن يُعلن، وما يُقاس قبل أن يُوسَّع.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10512"/>
          <a:ext cx="11091672" cy="39456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7240"/>
                <a:gridCol w="3291840"/>
                <a:gridCol w="7022592"/>
              </a:tblGrid>
              <a:tr h="457200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 lang="ar">
                          <a:solidFill>
                            <a:srgbClr val="FFFFFF"/>
                          </a:solidFill>
                          <a:latin typeface="Cairo"/>
                          <a:ea typeface="Cairo"/>
                          <a:cs typeface="Cairo"/>
                        </a:rPr>
                        <a:t>الرقم</a:t>
                      </a:r>
                    </a:p>
                  </a:txBody>
                  <a:tcPr anchor="ctr" marL="91440" marR="146304" marT="27432" marB="27432">
                    <a:lnB w="19050" cap="flat">
                      <a:solidFill>
                        <a:srgbClr val="0D948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FFFFFF"/>
                          </a:solidFill>
                          <a:latin typeface="Cairo"/>
                          <a:ea typeface="Cairo"/>
                          <a:cs typeface="Cairo"/>
                        </a:rPr>
                        <a:t>عنصر التنفيذ</a:t>
                      </a:r>
                    </a:p>
                  </a:txBody>
                  <a:tcPr anchor="ctr" marL="91440" marR="146304" marT="27432" marB="27432">
                    <a:lnB w="19050" cap="flat">
                      <a:solidFill>
                        <a:srgbClr val="0D948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FFFFFF"/>
                          </a:solidFill>
                          <a:latin typeface="Cairo"/>
                          <a:ea typeface="Cairo"/>
                          <a:cs typeface="Cairo"/>
                        </a:rPr>
                        <a:t>التفاصيل</a:t>
                      </a:r>
                    </a:p>
                  </a:txBody>
                  <a:tcPr anchor="ctr" marL="91440" marR="146304" marT="27432" marB="27432">
                    <a:lnB w="19050" cap="flat">
                      <a:solidFill>
                        <a:srgbClr val="0D9488"/>
                      </a:solidFill>
                    </a:lnB>
                    <a:solidFill>
                      <a:srgbClr val="0F172A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1</a:t>
                      </a:r>
                    </a:p>
                  </a:txBody>
                  <a:tcPr anchor="ctr" marL="45720" marR="45720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0F172A"/>
                          </a:solidFill>
                          <a:latin typeface="Cairo"/>
                          <a:ea typeface="Cairo"/>
                          <a:cs typeface="Cairo"/>
                        </a:rPr>
                        <a:t>تأكيد نطاق العمل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12000"/>
                        </a:lnSpc>
                      </a:pPr>
                      <a:r>
                        <a:rPr sz="1000" b="0" i="0" lang="ar">
                          <a:solidFill>
                            <a:srgbClr val="64748B"/>
                          </a:solidFill>
                          <a:latin typeface="Cairo"/>
                          <a:ea typeface="Cairo"/>
                          <a:cs typeface="Cairo"/>
                        </a:rPr>
                        <a:t>المحافظات والمناطق العاملة فعلياً، ساعات كل صيدلية، ومتجر التوزيع (App Store / Google Play)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2</a:t>
                      </a:r>
                    </a:p>
                  </a:txBody>
                  <a:tcPr anchor="ctr" marL="45720" marR="45720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0F172A"/>
                          </a:solidFill>
                          <a:latin typeface="Cairo"/>
                          <a:ea typeface="Cairo"/>
                          <a:cs typeface="Cairo"/>
                        </a:rPr>
                        <a:t>45 مقابلة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12000"/>
                        </a:lnSpc>
                      </a:pPr>
                      <a:r>
                        <a:rPr sz="1000" b="0" i="0" lang="ar">
                          <a:solidFill>
                            <a:srgbClr val="64748B"/>
                          </a:solidFill>
                          <a:latin typeface="Cairo"/>
                          <a:ea typeface="Cairo"/>
                          <a:cs typeface="Cairo"/>
                        </a:rPr>
                        <a:t>10 مرضى، 10 مقدمي رعاية، 15 صيدلية، 10 كباتن — تسجيل الاقتباسات والعوائق لا الآراء العامة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3</a:t>
                      </a:r>
                    </a:p>
                  </a:txBody>
                  <a:tcPr anchor="ctr" marL="45720" marR="45720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0F172A"/>
                          </a:solidFill>
                          <a:latin typeface="Cairo"/>
                          <a:ea typeface="Cairo"/>
                          <a:cs typeface="Cairo"/>
                        </a:rPr>
                        <a:t>اختبار البحث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12000"/>
                        </a:lnSpc>
                      </a:pPr>
                      <a:r>
                        <a:rPr sz="1000" b="0" i="0" lang="ar">
                          <a:solidFill>
                            <a:srgbClr val="64748B"/>
                          </a:solidFill>
                          <a:latin typeface="Cairo"/>
                          <a:ea typeface="Cairo"/>
                          <a:cs typeface="Cairo"/>
                        </a:rPr>
                        <a:t>20 اسماً دوائياً + 10 صور وصفات + اختلافات الإملاء واللهجة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4</a:t>
                      </a:r>
                    </a:p>
                  </a:txBody>
                  <a:tcPr anchor="ctr" marL="45720" marR="45720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0F172A"/>
                          </a:solidFill>
                          <a:latin typeface="Cairo"/>
                          <a:ea typeface="Cairo"/>
                          <a:cs typeface="Cairo"/>
                        </a:rPr>
                        <a:t>سياسات الامتثال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12000"/>
                        </a:lnSpc>
                      </a:pPr>
                      <a:r>
                        <a:rPr sz="1000" b="0" i="0" lang="ar">
                          <a:solidFill>
                            <a:srgbClr val="64748B"/>
                          </a:solidFill>
                          <a:latin typeface="Cairo"/>
                          <a:ea typeface="Cairo"/>
                          <a:cs typeface="Cairo"/>
                        </a:rPr>
                        <a:t>الأدوية المقيدة، الرفض، الإرجاع، الخصوصية، الحوادث، وسلسلة الحرارة مع مستشار محلي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5</a:t>
                      </a:r>
                    </a:p>
                  </a:txBody>
                  <a:tcPr anchor="ctr" marL="45720" marR="45720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0F172A"/>
                          </a:solidFill>
                          <a:latin typeface="Cairo"/>
                          <a:ea typeface="Cairo"/>
                          <a:cs typeface="Cairo"/>
                        </a:rPr>
                        <a:t>صفحة هبوط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12000"/>
                        </a:lnSpc>
                      </a:pPr>
                      <a:r>
                        <a:rPr sz="1000" b="0" i="0" lang="ar">
                          <a:solidFill>
                            <a:srgbClr val="64748B"/>
                          </a:solidFill>
                          <a:latin typeface="Cairo"/>
                          <a:ea typeface="Cairo"/>
                          <a:cs typeface="Cairo"/>
                        </a:rPr>
                        <a:t>صفحة / واتساب للصيدليات مع عرض تجريبي ومؤشر «اعتماد صيدلية» قابل للإثبات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6</a:t>
                      </a:r>
                    </a:p>
                  </a:txBody>
                  <a:tcPr anchor="ctr" marL="45720" marR="45720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0F172A"/>
                          </a:solidFill>
                          <a:latin typeface="Cairo"/>
                          <a:ea typeface="Cairo"/>
                          <a:cs typeface="Cairo"/>
                        </a:rPr>
                        <a:t>التحليلات الموحّدة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12000"/>
                        </a:lnSpc>
                      </a:pPr>
                      <a:r>
                        <a:rPr sz="1000" b="0" i="0" lang="ar">
                          <a:solidFill>
                            <a:srgbClr val="64748B"/>
                          </a:solidFill>
                          <a:latin typeface="Cairo"/>
                          <a:ea typeface="Cairo"/>
                          <a:cs typeface="Cairo"/>
                        </a:rPr>
                        <a:t>Firebase / analytics مع أحداث القمع كاملة و UTM موحّدة قبل أول حملة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 lang="ar">
                          <a:solidFill>
                            <a:srgbClr val="0F766E"/>
                          </a:solidFill>
                          <a:latin typeface="Cairo"/>
                          <a:ea typeface="Cairo"/>
                          <a:cs typeface="Cairo"/>
                        </a:rPr>
                        <a:t>7</a:t>
                      </a:r>
                    </a:p>
                  </a:txBody>
                  <a:tcPr anchor="ctr" marL="45720" marR="45720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100" b="1" i="0" lang="ar">
                          <a:solidFill>
                            <a:srgbClr val="0F172A"/>
                          </a:solidFill>
                          <a:latin typeface="Cairo"/>
                          <a:ea typeface="Cairo"/>
                          <a:cs typeface="Cairo"/>
                        </a:rPr>
                        <a:t>Pilot مدفوع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12000"/>
                        </a:lnSpc>
                      </a:pPr>
                      <a:r>
                        <a:rPr sz="1000" b="0" i="0" lang="ar">
                          <a:solidFill>
                            <a:srgbClr val="64748B"/>
                          </a:solidFill>
                          <a:latin typeface="Cairo"/>
                          <a:ea typeface="Cairo"/>
                          <a:cs typeface="Cairo"/>
                        </a:rPr>
                        <a:t>14 يوماً صغيرة ومقارنة ثلاث رسائل — لا ميزانية توسيع قبل قراءة القياسات</a:t>
                      </a:r>
                    </a:p>
                  </a:txBody>
                  <a:tcPr anchor="ctr" marL="128016" marR="146304" marT="27432" marB="27432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050" b="1" i="0" lang="ar">
                <a:solidFill>
                  <a:srgbClr val="0F766E"/>
                </a:solidFill>
                <a:latin typeface="Cairo"/>
                <a:ea typeface="Cairo"/>
                <a:cs typeface="Cairo"/>
              </a:rPr>
              <a:t>المبدأ الحاكم:  </a:t>
            </a:r>
            <a:r>
              <a:rPr sz="1050" b="1" i="0" lang="ar">
                <a:solidFill>
                  <a:srgbClr val="0F172A"/>
                </a:solidFill>
                <a:latin typeface="Cairo"/>
                <a:ea typeface="Cairo"/>
                <a:cs typeface="Cairo"/>
              </a:rPr>
              <a:t>لا صرف ميزانية توسيع قبل قراءة time-to-first-offer و contribution/order من بيانات الـ pilot.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912864"/>
          </a:xfrm>
          <a:prstGeom prst="rect">
            <a:avLst/>
          </a:prstGeom>
          <a:solidFill>
            <a:srgbClr val="0A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Oval 2"/>
          <p:cNvSpPr/>
          <p:nvPr/>
        </p:nvSpPr>
        <p:spPr>
          <a:xfrm>
            <a:off x="9966960" y="822960"/>
            <a:ext cx="1554480" cy="1554480"/>
          </a:xfrm>
          <a:prstGeom prst="ellipse">
            <a:avLst/>
          </a:prstGeom>
          <a:noFill/>
          <a:ln w="15240">
            <a:solidFill>
              <a:srgbClr val="24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Oval 3"/>
          <p:cNvSpPr/>
          <p:nvPr/>
        </p:nvSpPr>
        <p:spPr>
          <a:xfrm>
            <a:off x="1554480" y="5394960"/>
            <a:ext cx="128016" cy="12801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Rounded Rectangle 4"/>
          <p:cNvSpPr/>
          <p:nvPr/>
        </p:nvSpPr>
        <p:spPr>
          <a:xfrm>
            <a:off x="10625328" y="5029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6" name="TextBox 5"/>
          <p:cNvSpPr txBox="1"/>
          <p:nvPr/>
        </p:nvSpPr>
        <p:spPr>
          <a:xfrm>
            <a:off x="10625328" y="5029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2200" b="1" i="0" lang="ar">
                <a:solidFill>
                  <a:srgbClr val="FFFFFF"/>
                </a:solidFill>
                <a:latin typeface="Cairo"/>
                <a:ea typeface="Cairo"/>
                <a:cs typeface="Cairo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6528" y="475488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500" b="1" i="0" lang="ar">
                <a:solidFill>
                  <a:srgbClr val="F8FAFC"/>
                </a:solidFill>
                <a:latin typeface="Cairo"/>
                <a:ea typeface="Cairo"/>
                <a:cs typeface="Cairo"/>
              </a:rPr>
              <a:t>صِلة دوائي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786384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900" b="1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S I L A  I 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912" y="192024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/>
            <a:r>
              <a:rPr sz="1100" b="1" i="0" lang="ar">
                <a:solidFill>
                  <a:srgbClr val="5EEAD4"/>
                </a:solidFill>
                <a:latin typeface="Cairo"/>
                <a:ea typeface="Cairo"/>
                <a:cs typeface="Cairo"/>
              </a:rPr>
              <a:t>الخطوة التالية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91672" y="2395728"/>
            <a:ext cx="502920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10817352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ct val="115000"/>
              </a:lnSpc>
            </a:pPr>
            <a:r>
              <a:rPr sz="3800" b="1" i="0" lang="ar">
                <a:solidFill>
                  <a:srgbClr val="F8FAFC"/>
                </a:solidFill>
                <a:latin typeface="Cairo"/>
                <a:ea typeface="Cairo"/>
                <a:cs typeface="Cairo"/>
              </a:rPr>
              <a:t>هذا ليس شعاراً —</a:t>
            </a:r>
          </a:p>
          <a:p>
            <a:pPr algn="r" rtl="1">
              <a:lnSpc>
                <a:spcPct val="115000"/>
              </a:lnSpc>
            </a:pPr>
            <a:r>
              <a:rPr sz="3800" b="1" i="0" lang="ar">
                <a:solidFill>
                  <a:srgbClr val="5EEAD4"/>
                </a:solidFill>
                <a:latin typeface="Cairo"/>
                <a:ea typeface="Cairo"/>
                <a:cs typeface="Cairo"/>
              </a:rPr>
              <a:t>إنه قرار إطلاق.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15968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1450" b="0" i="0" lang="ar">
                <a:solidFill>
                  <a:srgbClr val="94A3B8"/>
                </a:solidFill>
                <a:latin typeface="Cairo"/>
                <a:ea typeface="Cairo"/>
                <a:cs typeface="Cairo"/>
              </a:rPr>
              <a:t>دواؤك الموثوق، من صيدلية قريبة، وبالسعر والوقت الواضحين.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93992" y="502920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24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4" name="TextBox 13"/>
          <p:cNvSpPr txBox="1"/>
          <p:nvPr/>
        </p:nvSpPr>
        <p:spPr>
          <a:xfrm>
            <a:off x="6793992" y="5029200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rtl="1"/>
            <a:r>
              <a:rPr sz="1050" b="1" i="0" lang="ar">
                <a:solidFill>
                  <a:srgbClr val="B6C2D4"/>
                </a:solidFill>
                <a:latin typeface="Cairo"/>
                <a:ea typeface="Cairo"/>
                <a:cs typeface="Cairo"/>
              </a:rPr>
              <a:t>صِلة دوائي  •  SILA IQ  —  أيلول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094415" cy="10972"/>
          </a:xfrm>
          <a:prstGeom prst="rect">
            <a:avLst/>
          </a:prstGeom>
          <a:solidFill>
            <a:srgbClr val="24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6" name="TextBox 15"/>
          <p:cNvSpPr txBox="1"/>
          <p:nvPr/>
        </p:nvSpPr>
        <p:spPr>
          <a:xfrm>
            <a:off x="548640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/>
            <a:r>
              <a:rPr sz="85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صِلة دوائي  •  SILA IQ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6528816"/>
            <a:ext cx="55472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rtl="1"/>
            <a:r>
              <a:rPr sz="850" b="1" i="0" lang="ar">
                <a:solidFill>
                  <a:srgbClr val="64748B"/>
                </a:solidFill>
                <a:latin typeface="Cairo"/>
                <a:ea typeface="Cairo"/>
                <a:cs typeface="Cairo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صِلة دوائي SILA IQ — الخطة التسويقية والاستراتيجية للنمو</dc:title>
  <dc:subject>Executive marketing strategy deck — 14 slides</dc:subject>
  <dc:creator>SILA IQ</dc:creator>
  <cp:keywords/>
  <dc:description>Generated with Open Design pipeline — Cairo font, RTL, Google Slides ready.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